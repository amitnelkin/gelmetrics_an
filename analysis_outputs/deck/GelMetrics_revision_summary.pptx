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agree on what the revised manuscript can claim, and which parameters it reports.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messages; each has its own slide after this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Mosaic walked raw planes (red, DIC, red, ...) of 2-channel movies; the reader used page = frame, so traces alternated red/DIC. Confirmed bit-exactly by re-running the original code on movies 005 and 007. Fix: track and read the fluorescence channel only; Mosaic is 0-based (+1); camera offset 200 subtracted.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real trace gets a burst-free copy: the dataset's typical bleaching curve plus fresh random noise of that trace's own frame-to-frame size. The same detector finds about as many bursts in the copies as in the real PP7 traces. Lowering SP or changing the smoothing window does not help (SP 3-12 x window 5-21 grid).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Camera + photon noise was predicted from pixels far from any granule. Measured trace noise is 2-6x larger, and the cell background (no bursts) shows the same excess. The multithresh thresholds are recomputed every frame, so the granule mask changes by 11-28% every 10 s. A synthetic unchanging granule with only camera noise reproduces the real noise (16.7 vs 16.9%). Steady thresholds cut the noise 2-3x but add a slow artefact; not adopted.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The same 4PP7-FUS histogram is fitted equally well by λ = 0.3/k0 = 85 up to λ = 4/k0 = 23. (b) The likelihood is a long ridge along constant mean burst size. (c) Data simulated from different truths look alike. (d) Repeated simulations from λ = 1: the fitted λ lands within 2x of the truth only 44% of the time. The manuscript's own Fig. 15b shows the same ridge.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Simulations as MS section III (1000 signals, k0 = 60, noise 40, SP 15), true λ 0.5-5, 5 datasets each, all negative bursts kept. Eq. (1.9) fitted with six scores: MSE, likelihood, KS, Cramer-von Mises, QQ, and the manuscript’s WS. Every score returns λ ≈ 2-3, and k0 drifts from about 30 to 130 (true 60). Only λ·k0 tracks the truth. Reasons: the 13-frame smoothing merges close steps and misses small ones, so the detected distribution has the same hump shape for any λ; Eq. (1.9) ignores that bursts carry whole units and that 0-unit bursts are invisible; and the answer depends on the score. Near-noise-free simulations fail too.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MS Fig. 13 rows (λ 1, 2, 4; λ 2 at SNR 5 and 0.5) plus λ 3 and 5. Candidate λ 1-5, k0 optimised. Granules resampled 100x per dataset (500 fits per row). The true λ wins only when it is 2 or 3. At true λ 4 and 5 it is never chosen and the likelihood rejects it (2·ΔNLL 136 and 334). The same true λ = 2 is fitted as 1-2 at SNR 5, 2 at SNR 1.5 and 4 at SNR 0.5: λ follows the noise level. Success = true λ in the top 3 of 5: 62% overall, vs 60% for a random pick and 71% for always guessing 2, 3 or 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manuscript's model curve, fitted to the shape of all bursts by likelihood (no WS, no trimming). In simulations with known λ (k0 = 60), the fitted λ stays near 2 whatever the truth; the fitted λ·k0 follows the true λ·k0 within 0.8-1.35x. In vivo λ is mostly below 1, where the product becomes unstable, so the plain mean or median burst size is the safer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Median vs mean burst size: the distributions are right-skewed (a few very large bursts, possibly merged events). The mean is what λ·k0 represents and what adds up to turnover, but it is pulled by rare large bursts (in vitro 1:1: median 36, mean 129, max 5272). The median describes the typical burst and is more robust; use it for comparisons. Report the mean when relating to λ·k0 or total turnover. 95% CIs: movie -&gt; granule bootstrap (in vitro: granules).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FUS granules are about half as bright, so their traces are relatively noisier and the detector finds larger apparent bursts even without biology. Burst-free copies with the same brightness and noise reproduce 2.6 of the 6.1-point gap. H0 "noise explains the entire gap" is rejected one-sided (p = 0.031; the direction is the manuscript's claim), two-sided p = 0.061, and not with the every-burst statistic (mean log size, p = 0.088). Turnover beyond noise does not differ. At 30x nothing differs.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 change = granule fade rate minus its own cell-background fade rate (same protein, same light). In vivo granules are in net balance. In vitro granules lose material, more at higher protein:RNA. Qβ has turnover beyond noise (9-10 %/h; p = 0.018 and 0.005 vs PP7) and bursts larger than its noise copies. Caveat: focus drift in vitro would also look like net loss.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Supported = holds with noise control and movie-level statistics. Reframed = the observation holds but not as λ/k0.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Items to agree on before writing the response letter.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43A"/>
        </a:solidFill>
        <a:effectLst/>
      </p:bgPr>
    </p:bg>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nchor="t" lIns="0" rIns="0" tIns="0" bIns="0">
            <a:spAutoFit/>
          </a:bodyPr>
          <a:lstStyle/>
          <a:p>
            <a:pPr algn="l">
              <a:spcAft>
                <a:spcPts val="600"/>
              </a:spcAft>
            </a:pPr>
            <a:r>
              <a:rPr sz="4200" b="1" i="0">
                <a:solidFill>
                  <a:srgbClr val="FFFFFF"/>
                </a:solidFill>
                <a:latin typeface="Cambria"/>
              </a:rPr>
              <a:t>GelMetrics revision: what the re-analysis shows</a:t>
            </a:r>
          </a:p>
        </p:txBody>
      </p:sp>
      <p:sp>
        <p:nvSpPr>
          <p:cNvPr id="3" name="TextBox 2"/>
          <p:cNvSpPr txBox="1"/>
          <p:nvPr/>
        </p:nvSpPr>
        <p:spPr>
          <a:xfrm>
            <a:off x="822960" y="3657600"/>
            <a:ext cx="10515600" cy="1097280"/>
          </a:xfrm>
          <a:prstGeom prst="rect">
            <a:avLst/>
          </a:prstGeom>
          <a:noFill/>
        </p:spPr>
        <p:txBody>
          <a:bodyPr wrap="square" anchor="t" lIns="0" rIns="0" tIns="0" bIns="0">
            <a:spAutoFit/>
          </a:bodyPr>
          <a:lstStyle/>
          <a:p>
            <a:pPr algn="l">
              <a:spcAft>
                <a:spcPts val="600"/>
              </a:spcAft>
            </a:pPr>
            <a:r>
              <a:rPr sz="1800" b="0" i="0">
                <a:solidFill>
                  <a:srgbClr val="C9D3E0"/>
                </a:solidFill>
                <a:latin typeface="Calibri"/>
              </a:rPr>
              <a:t>Summary of the code and data checks for the response to the referees
lab meeting, 20 Oct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Bottom line</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2</a:t>
            </a:r>
          </a:p>
        </p:txBody>
      </p:sp>
      <p:sp>
        <p:nvSpPr>
          <p:cNvPr id="4" name="Rounded Rectangle 3"/>
          <p:cNvSpPr/>
          <p:nvPr/>
        </p:nvSpPr>
        <p:spPr>
          <a:xfrm>
            <a:off x="548640" y="1417320"/>
            <a:ext cx="5394960" cy="146304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1691640"/>
            <a:ext cx="566928" cy="566928"/>
          </a:xfrm>
          <a:prstGeom prst="ellipse">
            <a:avLst/>
          </a:prstGeom>
          <a:solidFill>
            <a:srgbClr val="D948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mbria"/>
              </a:rPr>
              <a:t>1</a:t>
            </a:r>
          </a:p>
        </p:txBody>
      </p:sp>
      <p:sp>
        <p:nvSpPr>
          <p:cNvPr id="6" name="TextBox 5"/>
          <p:cNvSpPr txBox="1"/>
          <p:nvPr/>
        </p:nvSpPr>
        <p:spPr>
          <a:xfrm>
            <a:off x="1554480" y="1618488"/>
            <a:ext cx="4206240" cy="411480"/>
          </a:xfrm>
          <a:prstGeom prst="rect">
            <a:avLst/>
          </a:prstGeom>
          <a:noFill/>
        </p:spPr>
        <p:txBody>
          <a:bodyPr wrap="square" anchor="t" lIns="0" rIns="0" tIns="0" bIns="0">
            <a:spAutoFit/>
          </a:bodyPr>
          <a:lstStyle/>
          <a:p>
            <a:pPr algn="l">
              <a:spcAft>
                <a:spcPts val="600"/>
              </a:spcAft>
            </a:pPr>
            <a:r>
              <a:rPr sz="1700" b="1" i="0">
                <a:solidFill>
                  <a:srgbClr val="1C243A"/>
                </a:solidFill>
                <a:latin typeface="Calibri"/>
              </a:rPr>
              <a:t>A pipeline bug corrupted the PP7 traces</a:t>
            </a:r>
          </a:p>
        </p:txBody>
      </p:sp>
      <p:sp>
        <p:nvSpPr>
          <p:cNvPr id="7" name="TextBox 6"/>
          <p:cNvSpPr txBox="1"/>
          <p:nvPr/>
        </p:nvSpPr>
        <p:spPr>
          <a:xfrm>
            <a:off x="1554480" y="2057400"/>
            <a:ext cx="4206240" cy="777240"/>
          </a:xfrm>
          <a:prstGeom prst="rect">
            <a:avLst/>
          </a:prstGeom>
          <a:noFill/>
        </p:spPr>
        <p:txBody>
          <a:bodyPr wrap="square" anchor="t" lIns="0" rIns="0" tIns="0" bIns="0">
            <a:spAutoFit/>
          </a:bodyPr>
          <a:lstStyle/>
          <a:p>
            <a:pPr algn="l">
              <a:spcAft>
                <a:spcPts val="600"/>
              </a:spcAft>
            </a:pPr>
            <a:r>
              <a:rPr sz="1300" b="0" i="0">
                <a:solidFill>
                  <a:srgbClr val="5F6778"/>
                </a:solidFill>
                <a:latin typeface="Calibri"/>
              </a:rPr>
              <a:t>Two-channel movies mixed DIC pages into the red signal. Fixed and re-extracted.</a:t>
            </a:r>
          </a:p>
        </p:txBody>
      </p:sp>
      <p:sp>
        <p:nvSpPr>
          <p:cNvPr id="8" name="Rounded Rectangle 7"/>
          <p:cNvSpPr/>
          <p:nvPr/>
        </p:nvSpPr>
        <p:spPr>
          <a:xfrm>
            <a:off x="6217920" y="1417320"/>
            <a:ext cx="5394960" cy="146304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46520" y="1691640"/>
            <a:ext cx="566928" cy="566928"/>
          </a:xfrm>
          <a:prstGeom prst="ellipse">
            <a:avLst/>
          </a:prstGeom>
          <a:solidFill>
            <a:srgbClr val="D948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mbria"/>
              </a:rPr>
              <a:t>2</a:t>
            </a:r>
          </a:p>
        </p:txBody>
      </p:sp>
      <p:sp>
        <p:nvSpPr>
          <p:cNvPr id="10" name="TextBox 9"/>
          <p:cNvSpPr txBox="1"/>
          <p:nvPr/>
        </p:nvSpPr>
        <p:spPr>
          <a:xfrm>
            <a:off x="7223760" y="1618488"/>
            <a:ext cx="4206240" cy="411480"/>
          </a:xfrm>
          <a:prstGeom prst="rect">
            <a:avLst/>
          </a:prstGeom>
          <a:noFill/>
        </p:spPr>
        <p:txBody>
          <a:bodyPr wrap="square" anchor="t" lIns="0" rIns="0" tIns="0" bIns="0">
            <a:spAutoFit/>
          </a:bodyPr>
          <a:lstStyle/>
          <a:p>
            <a:pPr algn="l">
              <a:spcAft>
                <a:spcPts val="600"/>
              </a:spcAft>
            </a:pPr>
            <a:r>
              <a:rPr sz="1700" b="1" i="0">
                <a:solidFill>
                  <a:srgbClr val="1C243A"/>
                </a:solidFill>
                <a:latin typeface="Calibri"/>
              </a:rPr>
              <a:t>Most PP7 "bursts" are noise</a:t>
            </a:r>
          </a:p>
        </p:txBody>
      </p:sp>
      <p:sp>
        <p:nvSpPr>
          <p:cNvPr id="11" name="TextBox 10"/>
          <p:cNvSpPr txBox="1"/>
          <p:nvPr/>
        </p:nvSpPr>
        <p:spPr>
          <a:xfrm>
            <a:off x="7223760" y="2057400"/>
            <a:ext cx="4206240" cy="777240"/>
          </a:xfrm>
          <a:prstGeom prst="rect">
            <a:avLst/>
          </a:prstGeom>
          <a:noFill/>
        </p:spPr>
        <p:txBody>
          <a:bodyPr wrap="square" anchor="t" lIns="0" rIns="0" tIns="0" bIns="0">
            <a:spAutoFit/>
          </a:bodyPr>
          <a:lstStyle/>
          <a:p>
            <a:pPr algn="l">
              <a:spcAft>
                <a:spcPts val="600"/>
              </a:spcAft>
            </a:pPr>
            <a:r>
              <a:rPr sz="1300" b="0" i="0">
                <a:solidFill>
                  <a:srgbClr val="5F6778"/>
                </a:solidFill>
                <a:latin typeface="Calibri"/>
              </a:rPr>
              <a:t>Burst-free copies of each trace reproduce 88-94% of the detected PP7 turnover.</a:t>
            </a:r>
          </a:p>
        </p:txBody>
      </p:sp>
      <p:sp>
        <p:nvSpPr>
          <p:cNvPr id="12" name="Rounded Rectangle 11"/>
          <p:cNvSpPr/>
          <p:nvPr/>
        </p:nvSpPr>
        <p:spPr>
          <a:xfrm>
            <a:off x="548640" y="3108960"/>
            <a:ext cx="5394960" cy="146304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77240" y="3383280"/>
            <a:ext cx="566928" cy="566928"/>
          </a:xfrm>
          <a:prstGeom prst="ellipse">
            <a:avLst/>
          </a:prstGeom>
          <a:solidFill>
            <a:srgbClr val="D948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mbria"/>
              </a:rPr>
              <a:t>3</a:t>
            </a:r>
          </a:p>
        </p:txBody>
      </p:sp>
      <p:sp>
        <p:nvSpPr>
          <p:cNvPr id="14" name="TextBox 13"/>
          <p:cNvSpPr txBox="1"/>
          <p:nvPr/>
        </p:nvSpPr>
        <p:spPr>
          <a:xfrm>
            <a:off x="1554480" y="3310128"/>
            <a:ext cx="4206240" cy="411480"/>
          </a:xfrm>
          <a:prstGeom prst="rect">
            <a:avLst/>
          </a:prstGeom>
          <a:noFill/>
        </p:spPr>
        <p:txBody>
          <a:bodyPr wrap="square" anchor="t" lIns="0" rIns="0" tIns="0" bIns="0">
            <a:spAutoFit/>
          </a:bodyPr>
          <a:lstStyle/>
          <a:p>
            <a:pPr algn="l">
              <a:spcAft>
                <a:spcPts val="600"/>
              </a:spcAft>
            </a:pPr>
            <a:r>
              <a:rPr sz="1700" b="1" i="0">
                <a:solidFill>
                  <a:srgbClr val="1C243A"/>
                </a:solidFill>
                <a:latin typeface="Calibri"/>
              </a:rPr>
              <a:t>λ and k0 cannot be separated</a:t>
            </a:r>
          </a:p>
        </p:txBody>
      </p:sp>
      <p:sp>
        <p:nvSpPr>
          <p:cNvPr id="15" name="TextBox 14"/>
          <p:cNvSpPr txBox="1"/>
          <p:nvPr/>
        </p:nvSpPr>
        <p:spPr>
          <a:xfrm>
            <a:off x="1554480" y="3749040"/>
            <a:ext cx="4206240" cy="777240"/>
          </a:xfrm>
          <a:prstGeom prst="rect">
            <a:avLst/>
          </a:prstGeom>
          <a:noFill/>
        </p:spPr>
        <p:txBody>
          <a:bodyPr wrap="square" anchor="t" lIns="0" rIns="0" tIns="0" bIns="0">
            <a:spAutoFit/>
          </a:bodyPr>
          <a:lstStyle/>
          <a:p>
            <a:pPr algn="l">
              <a:spcAft>
                <a:spcPts val="600"/>
              </a:spcAft>
            </a:pPr>
            <a:r>
              <a:rPr sz="1300" b="0" i="0">
                <a:solidFill>
                  <a:srgbClr val="5F6778"/>
                </a:solidFill>
                <a:latin typeface="Calibri"/>
              </a:rPr>
              <a:t>The manuscript fit returns λ ≈ 2-3 for any true λ; only λ·k0 (≈ mean burst size) is recovered.</a:t>
            </a:r>
          </a:p>
        </p:txBody>
      </p:sp>
      <p:sp>
        <p:nvSpPr>
          <p:cNvPr id="16" name="Rounded Rectangle 15"/>
          <p:cNvSpPr/>
          <p:nvPr/>
        </p:nvSpPr>
        <p:spPr>
          <a:xfrm>
            <a:off x="6217920" y="3108960"/>
            <a:ext cx="5394960" cy="146304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46520" y="3383280"/>
            <a:ext cx="566928" cy="566928"/>
          </a:xfrm>
          <a:prstGeom prst="ellipse">
            <a:avLst/>
          </a:prstGeom>
          <a:solidFill>
            <a:srgbClr val="D948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mbria"/>
              </a:rPr>
              <a:t>4</a:t>
            </a:r>
          </a:p>
        </p:txBody>
      </p:sp>
      <p:sp>
        <p:nvSpPr>
          <p:cNvPr id="18" name="TextBox 17"/>
          <p:cNvSpPr txBox="1"/>
          <p:nvPr/>
        </p:nvSpPr>
        <p:spPr>
          <a:xfrm>
            <a:off x="7223760" y="3310128"/>
            <a:ext cx="4206240" cy="411480"/>
          </a:xfrm>
          <a:prstGeom prst="rect">
            <a:avLst/>
          </a:prstGeom>
          <a:noFill/>
        </p:spPr>
        <p:txBody>
          <a:bodyPr wrap="square" anchor="t" lIns="0" rIns="0" tIns="0" bIns="0">
            <a:spAutoFit/>
          </a:bodyPr>
          <a:lstStyle/>
          <a:p>
            <a:pPr algn="l">
              <a:spcAft>
                <a:spcPts val="600"/>
              </a:spcAft>
            </a:pPr>
            <a:r>
              <a:rPr sz="1700" b="1" i="0">
                <a:solidFill>
                  <a:srgbClr val="1C243A"/>
                </a:solidFill>
                <a:latin typeface="Calibri"/>
              </a:rPr>
              <a:t>FUS at 4x: mostly brightness, partly real</a:t>
            </a:r>
          </a:p>
        </p:txBody>
      </p:sp>
      <p:sp>
        <p:nvSpPr>
          <p:cNvPr id="19" name="TextBox 18"/>
          <p:cNvSpPr txBox="1"/>
          <p:nvPr/>
        </p:nvSpPr>
        <p:spPr>
          <a:xfrm>
            <a:off x="7223760" y="3749040"/>
            <a:ext cx="4206240" cy="777240"/>
          </a:xfrm>
          <a:prstGeom prst="rect">
            <a:avLst/>
          </a:prstGeom>
          <a:noFill/>
        </p:spPr>
        <p:txBody>
          <a:bodyPr wrap="square" anchor="t" lIns="0" rIns="0" tIns="0" bIns="0">
            <a:spAutoFit/>
          </a:bodyPr>
          <a:lstStyle/>
          <a:p>
            <a:pPr algn="l">
              <a:spcAft>
                <a:spcPts val="600"/>
              </a:spcAft>
            </a:pPr>
            <a:r>
              <a:rPr sz="1300" b="0" i="0">
                <a:solidFill>
                  <a:srgbClr val="5F6778"/>
                </a:solidFill>
                <a:latin typeface="Calibri"/>
              </a:rPr>
              <a:t>FUS granules are 2x dimmer; 57% of the burst-size gap is beyond noise (one-sided p = 0.03).</a:t>
            </a:r>
          </a:p>
        </p:txBody>
      </p:sp>
      <p:sp>
        <p:nvSpPr>
          <p:cNvPr id="20" name="Rounded Rectangle 19"/>
          <p:cNvSpPr/>
          <p:nvPr/>
        </p:nvSpPr>
        <p:spPr>
          <a:xfrm>
            <a:off x="548640" y="4800600"/>
            <a:ext cx="5394960" cy="146304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77240" y="5074920"/>
            <a:ext cx="566928" cy="566928"/>
          </a:xfrm>
          <a:prstGeom prst="ellipse">
            <a:avLst/>
          </a:prstGeom>
          <a:solidFill>
            <a:srgbClr val="1F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mbria"/>
              </a:rPr>
              <a:t>5</a:t>
            </a:r>
          </a:p>
        </p:txBody>
      </p:sp>
      <p:sp>
        <p:nvSpPr>
          <p:cNvPr id="22" name="TextBox 21"/>
          <p:cNvSpPr txBox="1"/>
          <p:nvPr/>
        </p:nvSpPr>
        <p:spPr>
          <a:xfrm>
            <a:off x="1554480" y="5001768"/>
            <a:ext cx="4206240" cy="411480"/>
          </a:xfrm>
          <a:prstGeom prst="rect">
            <a:avLst/>
          </a:prstGeom>
          <a:noFill/>
        </p:spPr>
        <p:txBody>
          <a:bodyPr wrap="square" anchor="t" lIns="0" rIns="0" tIns="0" bIns="0">
            <a:spAutoFit/>
          </a:bodyPr>
          <a:lstStyle/>
          <a:p>
            <a:pPr algn="l">
              <a:spcAft>
                <a:spcPts val="600"/>
              </a:spcAft>
            </a:pPr>
            <a:r>
              <a:rPr sz="1700" b="1" i="0">
                <a:solidFill>
                  <a:srgbClr val="1C243A"/>
                </a:solidFill>
                <a:latin typeface="Calibri"/>
              </a:rPr>
              <a:t>Robust differences remain</a:t>
            </a:r>
          </a:p>
        </p:txBody>
      </p:sp>
      <p:sp>
        <p:nvSpPr>
          <p:cNvPr id="23" name="TextBox 22"/>
          <p:cNvSpPr txBox="1"/>
          <p:nvPr/>
        </p:nvSpPr>
        <p:spPr>
          <a:xfrm>
            <a:off x="1554480" y="5440680"/>
            <a:ext cx="4206240" cy="777240"/>
          </a:xfrm>
          <a:prstGeom prst="rect">
            <a:avLst/>
          </a:prstGeom>
          <a:noFill/>
        </p:spPr>
        <p:txBody>
          <a:bodyPr wrap="square" anchor="t" lIns="0" rIns="0" tIns="0" bIns="0">
            <a:spAutoFit/>
          </a:bodyPr>
          <a:lstStyle/>
          <a:p>
            <a:pPr algn="l">
              <a:spcAft>
                <a:spcPts val="600"/>
              </a:spcAft>
            </a:pPr>
            <a:r>
              <a:rPr sz="1300" b="0" i="0">
                <a:solidFill>
                  <a:srgbClr val="5F6778"/>
                </a:solidFill>
                <a:latin typeface="Calibri"/>
              </a:rPr>
              <a:t>Qβ is more dynamic than PP7; in vitro granules lose material faster at higher protein:RNA.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Two-channel movies mixed DIC into the PP7 traces</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3</a:t>
            </a:r>
          </a:p>
        </p:txBody>
      </p:sp>
      <p:pic>
        <p:nvPicPr>
          <p:cNvPr id="4" name="Picture 3" descr="zigzag.png"/>
          <p:cNvPicPr>
            <a:picLocks noChangeAspect="1"/>
          </p:cNvPicPr>
          <p:nvPr/>
        </p:nvPicPr>
        <p:blipFill>
          <a:blip r:embed="rId3"/>
          <a:stretch>
            <a:fillRect/>
          </a:stretch>
        </p:blipFill>
        <p:spPr>
          <a:xfrm>
            <a:off x="548640" y="1325880"/>
            <a:ext cx="6035040" cy="3017520"/>
          </a:xfrm>
          <a:prstGeom prst="rect">
            <a:avLst/>
          </a:prstGeom>
        </p:spPr>
      </p:pic>
      <p:sp>
        <p:nvSpPr>
          <p:cNvPr id="5" name="Rounded Rectangle 4"/>
          <p:cNvSpPr/>
          <p:nvPr/>
        </p:nvSpPr>
        <p:spPr>
          <a:xfrm>
            <a:off x="548640" y="4800600"/>
            <a:ext cx="288036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937760"/>
            <a:ext cx="2423160" cy="685800"/>
          </a:xfrm>
          <a:prstGeom prst="rect">
            <a:avLst/>
          </a:prstGeom>
          <a:noFill/>
        </p:spPr>
        <p:txBody>
          <a:bodyPr wrap="square" anchor="t" lIns="0" rIns="0" tIns="0" bIns="0">
            <a:spAutoFit/>
          </a:bodyPr>
          <a:lstStyle/>
          <a:p>
            <a:pPr algn="l">
              <a:spcAft>
                <a:spcPts val="600"/>
              </a:spcAft>
            </a:pPr>
            <a:r>
              <a:rPr sz="3400" b="1" i="0">
                <a:solidFill>
                  <a:srgbClr val="5F6778"/>
                </a:solidFill>
                <a:latin typeface="Cambria"/>
              </a:rPr>
              <a:t>8 of 9</a:t>
            </a:r>
          </a:p>
        </p:txBody>
      </p:sp>
      <p:sp>
        <p:nvSpPr>
          <p:cNvPr id="7" name="TextBox 6"/>
          <p:cNvSpPr txBox="1"/>
          <p:nvPr/>
        </p:nvSpPr>
        <p:spPr>
          <a:xfrm>
            <a:off x="777240" y="5605272"/>
            <a:ext cx="242316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4PP7 movies were 2-channel (also all 30PP7 and 30PP7-FUS)</a:t>
            </a:r>
          </a:p>
        </p:txBody>
      </p:sp>
      <p:sp>
        <p:nvSpPr>
          <p:cNvPr id="8" name="Rounded Rectangle 7"/>
          <p:cNvSpPr/>
          <p:nvPr/>
        </p:nvSpPr>
        <p:spPr>
          <a:xfrm>
            <a:off x="3703320" y="4800600"/>
            <a:ext cx="288036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31920" y="4937760"/>
            <a:ext cx="2423160" cy="685800"/>
          </a:xfrm>
          <a:prstGeom prst="rect">
            <a:avLst/>
          </a:prstGeom>
          <a:noFill/>
        </p:spPr>
        <p:txBody>
          <a:bodyPr wrap="square" anchor="t" lIns="0" rIns="0" tIns="0" bIns="0">
            <a:spAutoFit/>
          </a:bodyPr>
          <a:lstStyle/>
          <a:p>
            <a:pPr algn="l">
              <a:spcAft>
                <a:spcPts val="600"/>
              </a:spcAft>
            </a:pPr>
            <a:r>
              <a:rPr sz="3400" b="1" i="0">
                <a:solidFill>
                  <a:srgbClr val="1F7A74"/>
                </a:solidFill>
                <a:latin typeface="Cambria"/>
              </a:rPr>
              <a:t>59 / 59</a:t>
            </a:r>
          </a:p>
        </p:txBody>
      </p:sp>
      <p:sp>
        <p:nvSpPr>
          <p:cNvPr id="10" name="TextBox 9"/>
          <p:cNvSpPr txBox="1"/>
          <p:nvPr/>
        </p:nvSpPr>
        <p:spPr>
          <a:xfrm>
            <a:off x="3931920" y="5605272"/>
            <a:ext cx="242316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stored traces reproduced bit-exactly by the original code</a:t>
            </a:r>
          </a:p>
        </p:txBody>
      </p:sp>
      <p:sp>
        <p:nvSpPr>
          <p:cNvPr id="11" name="TextBox 10"/>
          <p:cNvSpPr txBox="1"/>
          <p:nvPr/>
        </p:nvSpPr>
        <p:spPr>
          <a:xfrm>
            <a:off x="6995160" y="1463040"/>
            <a:ext cx="4617720" cy="4937760"/>
          </a:xfrm>
          <a:prstGeom prst="rect">
            <a:avLst/>
          </a:prstGeom>
          <a:noFill/>
        </p:spPr>
        <p:txBody>
          <a:bodyPr wrap="square" lIns="0" rIns="0" tIns="0" bIns="0">
            <a:spAutoFit/>
          </a:bodyPr>
          <a:lstStyle/>
          <a:p>
            <a:pPr marL="228600" indent="-228600">
              <a:spcAft>
                <a:spcPts val="900"/>
              </a:spcAft>
              <a:buChar char="•"/>
            </a:pPr>
            <a:r>
              <a:rPr sz="1500" b="1">
                <a:solidFill>
                  <a:srgbClr val="1C243A"/>
                </a:solidFill>
                <a:latin typeface="Calibri"/>
              </a:rPr>
              <a:t>What happened: </a:t>
            </a:r>
            <a:r>
              <a:rPr sz="1500" b="0">
                <a:solidFill>
                  <a:srgbClr val="1C243A"/>
                </a:solidFill>
                <a:latin typeface="Calibri"/>
              </a:rPr>
              <a:t>on 2-channel movies the tracker and reader stepped through red and DIC pages alternately.</a:t>
            </a:r>
          </a:p>
          <a:p>
            <a:pPr marL="228600" indent="-228600">
              <a:spcAft>
                <a:spcPts val="900"/>
              </a:spcAft>
              <a:buChar char="•"/>
            </a:pPr>
            <a:r>
              <a:rPr sz="1500" b="1">
                <a:solidFill>
                  <a:srgbClr val="1C243A"/>
                </a:solidFill>
                <a:latin typeface="Calibri"/>
              </a:rPr>
              <a:t>Which data: </a:t>
            </a:r>
            <a:r>
              <a:rPr sz="1500" b="0">
                <a:solidFill>
                  <a:srgbClr val="1C243A"/>
                </a:solidFill>
                <a:latin typeface="Calibri"/>
              </a:rPr>
              <a:t>4PP7 (8 of 9 movies), 30PP7, 30PP7-FUS. 4PP7-FUS and in vitro were unaffected.</a:t>
            </a:r>
          </a:p>
          <a:p>
            <a:pPr marL="228600" indent="-228600">
              <a:spcAft>
                <a:spcPts val="900"/>
              </a:spcAft>
              <a:buChar char="•"/>
            </a:pPr>
            <a:r>
              <a:rPr sz="1500" b="1">
                <a:solidFill>
                  <a:srgbClr val="1C243A"/>
                </a:solidFill>
                <a:latin typeface="Calibri"/>
              </a:rPr>
              <a:t>Fix: </a:t>
            </a:r>
            <a:r>
              <a:rPr sz="1500" b="0">
                <a:solidFill>
                  <a:srgbClr val="1C243A"/>
                </a:solidFill>
                <a:latin typeface="Calibri"/>
              </a:rPr>
              <a:t>track and read the red channel only, 0-based frame mapping, camera offset removed.</a:t>
            </a:r>
          </a:p>
          <a:p>
            <a:pPr marL="228600" indent="-228600">
              <a:spcAft>
                <a:spcPts val="900"/>
              </a:spcAft>
              <a:buChar char="•"/>
            </a:pPr>
            <a:r>
              <a:rPr sz="1500" b="1">
                <a:solidFill>
                  <a:srgbClr val="1C243A"/>
                </a:solidFill>
                <a:latin typeface="Calibri"/>
              </a:rPr>
              <a:t>Re-extracted </a:t>
            </a:r>
            <a:r>
              <a:rPr sz="1500" b="0">
                <a:solidFill>
                  <a:srgbClr val="1C243A"/>
                </a:solidFill>
                <a:latin typeface="Calibri"/>
              </a:rPr>
              <a:t>all PP7 datasets and Qβ from the .nd2 files; Qβ reproduces the stored data.</a:t>
            </a:r>
          </a:p>
          <a:p>
            <a:pPr marL="228600" indent="-228600">
              <a:spcAft>
                <a:spcPts val="900"/>
              </a:spcAft>
              <a:buChar char="•"/>
            </a:pPr>
            <a:r>
              <a:rPr sz="1500" b="1">
                <a:solidFill>
                  <a:srgbClr val="1C243A"/>
                </a:solidFill>
                <a:latin typeface="Calibri"/>
              </a:rPr>
              <a:t>Consequence: </a:t>
            </a:r>
            <a:r>
              <a:rPr sz="1500" b="0">
                <a:solidFill>
                  <a:srgbClr val="1C243A"/>
                </a:solidFill>
                <a:latin typeface="Calibri"/>
              </a:rPr>
              <a:t>part of the published 4x PP7 vs PP7-FUS difference came from DIC contamination.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Most PP7 bursts are reproduced by noise alone</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4</a:t>
            </a:r>
          </a:p>
        </p:txBody>
      </p:sp>
      <p:pic>
        <p:nvPicPr>
          <p:cNvPr id="4" name="Picture 3" descr="traces.png"/>
          <p:cNvPicPr>
            <a:picLocks noChangeAspect="1"/>
          </p:cNvPicPr>
          <p:nvPr/>
        </p:nvPicPr>
        <p:blipFill>
          <a:blip r:embed="rId3"/>
          <a:stretch>
            <a:fillRect/>
          </a:stretch>
        </p:blipFill>
        <p:spPr>
          <a:xfrm>
            <a:off x="548640" y="1325880"/>
            <a:ext cx="6858000" cy="2894239"/>
          </a:xfrm>
          <a:prstGeom prst="rect">
            <a:avLst/>
          </a:prstGeom>
        </p:spPr>
      </p:pic>
      <p:sp>
        <p:nvSpPr>
          <p:cNvPr id="5" name="TextBox 4"/>
          <p:cNvSpPr txBox="1"/>
          <p:nvPr/>
        </p:nvSpPr>
        <p:spPr>
          <a:xfrm>
            <a:off x="548640" y="4434840"/>
            <a:ext cx="6858000" cy="1737360"/>
          </a:xfrm>
          <a:prstGeom prst="rect">
            <a:avLst/>
          </a:prstGeom>
          <a:noFill/>
        </p:spPr>
        <p:txBody>
          <a:bodyPr wrap="square" anchor="t" lIns="0" rIns="0" tIns="0" bIns="0">
            <a:spAutoFit/>
          </a:bodyPr>
          <a:lstStyle/>
          <a:p>
            <a:pPr algn="l">
              <a:spcAft>
                <a:spcPts val="300"/>
              </a:spcAft>
            </a:pPr>
            <a:r>
              <a:rPr sz="1400" b="1" i="0">
                <a:solidFill>
                  <a:srgbClr val="5F6778"/>
                </a:solidFill>
                <a:latin typeface="Calibri"/>
              </a:rPr>
              <a:t>Left: </a:t>
            </a:r>
            <a:r>
              <a:rPr sz="1400" b="0" i="0">
                <a:solidFill>
                  <a:srgbClr val="5F6778"/>
                </a:solidFill>
                <a:latin typeface="Calibri"/>
              </a:rPr>
              <a:t>a real 4PP7-FUS granule. </a:t>
            </a:r>
          </a:p>
          <a:p>
            <a:pPr algn="l">
              <a:spcAft>
                <a:spcPts val="300"/>
              </a:spcAft>
            </a:pPr>
            <a:r>
              <a:rPr sz="1400" b="1" i="0">
                <a:solidFill>
                  <a:srgbClr val="5F6778"/>
                </a:solidFill>
                <a:latin typeface="Calibri"/>
              </a:rPr>
              <a:t>Right: </a:t>
            </a:r>
            <a:r>
              <a:rPr sz="1400" b="0" i="0">
                <a:solidFill>
                  <a:srgbClr val="5F6778"/>
                </a:solidFill>
                <a:latin typeface="Calibri"/>
              </a:rPr>
              <a:t>a simulated copy with the same bleaching and noise level, and no bursts. </a:t>
            </a:r>
          </a:p>
          <a:p>
            <a:pPr algn="l">
              <a:spcAft>
                <a:spcPts val="300"/>
              </a:spcAft>
            </a:pPr>
            <a:r>
              <a:rPr sz="1400" b="1" i="0">
                <a:solidFill>
                  <a:srgbClr val="5F6778"/>
                </a:solidFill>
                <a:latin typeface="Calibri"/>
              </a:rPr>
              <a:t>Top: </a:t>
            </a:r>
            <a:r>
              <a:rPr sz="1400" b="0" i="0">
                <a:solidFill>
                  <a:srgbClr val="5F6778"/>
                </a:solidFill>
                <a:latin typeface="Calibri"/>
              </a:rPr>
              <a:t>raw intensity. </a:t>
            </a:r>
          </a:p>
          <a:p>
            <a:pPr algn="l">
              <a:spcAft>
                <a:spcPts val="300"/>
              </a:spcAft>
            </a:pPr>
            <a:r>
              <a:rPr sz="1400" b="1" i="0">
                <a:solidFill>
                  <a:srgbClr val="5F6778"/>
                </a:solidFill>
                <a:latin typeface="Calibri"/>
              </a:rPr>
              <a:t>Bottom: </a:t>
            </a:r>
            <a:r>
              <a:rPr sz="1400" b="0" i="0">
                <a:solidFill>
                  <a:srgbClr val="5F6778"/>
                </a:solidFill>
                <a:latin typeface="Calibri"/>
              </a:rPr>
              <a:t>what the detector sees, with the bursts it called (red = loss, blue = gain).</a:t>
            </a:r>
          </a:p>
        </p:txBody>
      </p:sp>
      <p:sp>
        <p:nvSpPr>
          <p:cNvPr id="6" name="Rounded Rectangle 5"/>
          <p:cNvSpPr/>
          <p:nvPr/>
        </p:nvSpPr>
        <p:spPr>
          <a:xfrm>
            <a:off x="7772400" y="1371600"/>
            <a:ext cx="384048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508760"/>
            <a:ext cx="3383280" cy="685800"/>
          </a:xfrm>
          <a:prstGeom prst="rect">
            <a:avLst/>
          </a:prstGeom>
          <a:noFill/>
        </p:spPr>
        <p:txBody>
          <a:bodyPr wrap="square" anchor="t" lIns="0" rIns="0" tIns="0" bIns="0">
            <a:spAutoFit/>
          </a:bodyPr>
          <a:lstStyle/>
          <a:p>
            <a:pPr algn="l">
              <a:spcAft>
                <a:spcPts val="600"/>
              </a:spcAft>
            </a:pPr>
            <a:r>
              <a:rPr sz="3400" b="1" i="0">
                <a:solidFill>
                  <a:srgbClr val="D9483B"/>
                </a:solidFill>
                <a:latin typeface="Cambria"/>
              </a:rPr>
              <a:t>88-94%</a:t>
            </a:r>
          </a:p>
        </p:txBody>
      </p:sp>
      <p:sp>
        <p:nvSpPr>
          <p:cNvPr id="8" name="TextBox 7"/>
          <p:cNvSpPr txBox="1"/>
          <p:nvPr/>
        </p:nvSpPr>
        <p:spPr>
          <a:xfrm>
            <a:off x="8001000" y="2176272"/>
            <a:ext cx="338328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of the detected PP7 and PP7-FUS turnover is reproduced by burst-free copies</a:t>
            </a:r>
          </a:p>
        </p:txBody>
      </p:sp>
      <p:sp>
        <p:nvSpPr>
          <p:cNvPr id="9" name="Rounded Rectangle 8"/>
          <p:cNvSpPr/>
          <p:nvPr/>
        </p:nvSpPr>
        <p:spPr>
          <a:xfrm>
            <a:off x="7772400" y="3017520"/>
            <a:ext cx="384048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3154679"/>
            <a:ext cx="3383280" cy="685800"/>
          </a:xfrm>
          <a:prstGeom prst="rect">
            <a:avLst/>
          </a:prstGeom>
          <a:noFill/>
        </p:spPr>
        <p:txBody>
          <a:bodyPr wrap="square" anchor="t" lIns="0" rIns="0" tIns="0" bIns="0">
            <a:spAutoFit/>
          </a:bodyPr>
          <a:lstStyle/>
          <a:p>
            <a:pPr algn="l">
              <a:spcAft>
                <a:spcPts val="600"/>
              </a:spcAft>
            </a:pPr>
            <a:r>
              <a:rPr sz="3400" b="1" i="0">
                <a:solidFill>
                  <a:srgbClr val="1F7A74"/>
                </a:solidFill>
                <a:latin typeface="Cambria"/>
              </a:rPr>
              <a:t>≈45%</a:t>
            </a:r>
          </a:p>
        </p:txBody>
      </p:sp>
      <p:sp>
        <p:nvSpPr>
          <p:cNvPr id="11" name="TextBox 10"/>
          <p:cNvSpPr txBox="1"/>
          <p:nvPr/>
        </p:nvSpPr>
        <p:spPr>
          <a:xfrm>
            <a:off x="8001000" y="3822191"/>
            <a:ext cx="338328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for Qβ: a real excess of bursts over noise</a:t>
            </a:r>
          </a:p>
        </p:txBody>
      </p:sp>
      <p:sp>
        <p:nvSpPr>
          <p:cNvPr id="12" name="TextBox 11"/>
          <p:cNvSpPr txBox="1"/>
          <p:nvPr/>
        </p:nvSpPr>
        <p:spPr>
          <a:xfrm>
            <a:off x="7772400" y="4709160"/>
            <a:ext cx="3840480" cy="1463040"/>
          </a:xfrm>
          <a:prstGeom prst="rect">
            <a:avLst/>
          </a:prstGeom>
          <a:noFill/>
        </p:spPr>
        <p:txBody>
          <a:bodyPr wrap="square" anchor="t" lIns="0" rIns="0" tIns="0" bIns="0">
            <a:spAutoFit/>
          </a:bodyPr>
          <a:lstStyle/>
          <a:p>
            <a:pPr algn="l">
              <a:spcAft>
                <a:spcPts val="600"/>
              </a:spcAft>
            </a:pPr>
            <a:r>
              <a:rPr sz="1400" b="0" i="0">
                <a:solidFill>
                  <a:srgbClr val="5F6778"/>
                </a:solidFill>
                <a:latin typeface="Calibri"/>
              </a:rPr>
              <a:t>No smoothing window (5-21 frames) or stringency (SP 3-12) separates real bursts from noise in PP7.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The noise comes from per-frame thresholding, not the camera</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5</a:t>
            </a:r>
          </a:p>
        </p:txBody>
      </p:sp>
      <p:pic>
        <p:nvPicPr>
          <p:cNvPr id="4" name="Picture 3" descr="noise_measured_vs_predicted.png"/>
          <p:cNvPicPr>
            <a:picLocks noChangeAspect="1"/>
          </p:cNvPicPr>
          <p:nvPr/>
        </p:nvPicPr>
        <p:blipFill>
          <a:blip r:embed="rId3"/>
          <a:stretch>
            <a:fillRect/>
          </a:stretch>
        </p:blipFill>
        <p:spPr>
          <a:xfrm>
            <a:off x="548640" y="1371600"/>
            <a:ext cx="11064240" cy="3393033"/>
          </a:xfrm>
          <a:prstGeom prst="rect">
            <a:avLst/>
          </a:prstGeom>
        </p:spPr>
      </p:pic>
      <p:sp>
        <p:nvSpPr>
          <p:cNvPr id="5" name="Rounded Rectangle 4"/>
          <p:cNvSpPr/>
          <p:nvPr/>
        </p:nvSpPr>
        <p:spPr>
          <a:xfrm>
            <a:off x="548640" y="4983480"/>
            <a:ext cx="347472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120640"/>
            <a:ext cx="3017520" cy="685800"/>
          </a:xfrm>
          <a:prstGeom prst="rect">
            <a:avLst/>
          </a:prstGeom>
          <a:noFill/>
        </p:spPr>
        <p:txBody>
          <a:bodyPr wrap="square" anchor="t" lIns="0" rIns="0" tIns="0" bIns="0">
            <a:spAutoFit/>
          </a:bodyPr>
          <a:lstStyle/>
          <a:p>
            <a:pPr algn="l">
              <a:spcAft>
                <a:spcPts val="600"/>
              </a:spcAft>
            </a:pPr>
            <a:r>
              <a:rPr sz="3400" b="1" i="0">
                <a:solidFill>
                  <a:srgbClr val="D9483B"/>
                </a:solidFill>
                <a:latin typeface="Cambria"/>
              </a:rPr>
              <a:t>2-6x</a:t>
            </a:r>
          </a:p>
        </p:txBody>
      </p:sp>
      <p:sp>
        <p:nvSpPr>
          <p:cNvPr id="7" name="TextBox 6"/>
          <p:cNvSpPr txBox="1"/>
          <p:nvPr/>
        </p:nvSpPr>
        <p:spPr>
          <a:xfrm>
            <a:off x="777240" y="5788152"/>
            <a:ext cx="301752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measured noise vs camera + photon noise</a:t>
            </a:r>
          </a:p>
        </p:txBody>
      </p:sp>
      <p:sp>
        <p:nvSpPr>
          <p:cNvPr id="8" name="Rounded Rectangle 7"/>
          <p:cNvSpPr/>
          <p:nvPr/>
        </p:nvSpPr>
        <p:spPr>
          <a:xfrm>
            <a:off x="4343400" y="4983480"/>
            <a:ext cx="347472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5120640"/>
            <a:ext cx="3017520" cy="685800"/>
          </a:xfrm>
          <a:prstGeom prst="rect">
            <a:avLst/>
          </a:prstGeom>
          <a:noFill/>
        </p:spPr>
        <p:txBody>
          <a:bodyPr wrap="square" anchor="t" lIns="0" rIns="0" tIns="0" bIns="0">
            <a:spAutoFit/>
          </a:bodyPr>
          <a:lstStyle/>
          <a:p>
            <a:pPr algn="l">
              <a:spcAft>
                <a:spcPts val="600"/>
              </a:spcAft>
            </a:pPr>
            <a:r>
              <a:rPr sz="3400" b="1" i="0">
                <a:solidFill>
                  <a:srgbClr val="1F7A74"/>
                </a:solidFill>
                <a:latin typeface="Cambria"/>
              </a:rPr>
              <a:t>11-28%</a:t>
            </a:r>
          </a:p>
        </p:txBody>
      </p:sp>
      <p:sp>
        <p:nvSpPr>
          <p:cNvPr id="10" name="TextBox 9"/>
          <p:cNvSpPr txBox="1"/>
          <p:nvPr/>
        </p:nvSpPr>
        <p:spPr>
          <a:xfrm>
            <a:off x="4572000" y="5788152"/>
            <a:ext cx="301752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frame-to-frame change in the granule mask</a:t>
            </a:r>
          </a:p>
        </p:txBody>
      </p:sp>
      <p:sp>
        <p:nvSpPr>
          <p:cNvPr id="11" name="Rounded Rectangle 10"/>
          <p:cNvSpPr/>
          <p:nvPr/>
        </p:nvSpPr>
        <p:spPr>
          <a:xfrm>
            <a:off x="8138160" y="4983480"/>
            <a:ext cx="347472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6760" y="5120640"/>
            <a:ext cx="3017520" cy="685800"/>
          </a:xfrm>
          <a:prstGeom prst="rect">
            <a:avLst/>
          </a:prstGeom>
          <a:noFill/>
        </p:spPr>
        <p:txBody>
          <a:bodyPr wrap="square" anchor="t" lIns="0" rIns="0" tIns="0" bIns="0">
            <a:spAutoFit/>
          </a:bodyPr>
          <a:lstStyle/>
          <a:p>
            <a:pPr algn="l">
              <a:spcAft>
                <a:spcPts val="600"/>
              </a:spcAft>
            </a:pPr>
            <a:r>
              <a:rPr sz="3400" b="1" i="0">
                <a:solidFill>
                  <a:srgbClr val="5F6778"/>
                </a:solidFill>
                <a:latin typeface="Cambria"/>
              </a:rPr>
              <a:t>16.7 vs 16.9%</a:t>
            </a:r>
          </a:p>
        </p:txBody>
      </p:sp>
      <p:sp>
        <p:nvSpPr>
          <p:cNvPr id="13" name="TextBox 12"/>
          <p:cNvSpPr txBox="1"/>
          <p:nvPr/>
        </p:nvSpPr>
        <p:spPr>
          <a:xfrm>
            <a:off x="8366760" y="5788152"/>
            <a:ext cx="301752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noise of an unchanging synthetic granule vs real 4PP7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λ and k0 cannot be separated from the burst sizes</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6</a:t>
            </a:r>
          </a:p>
        </p:txBody>
      </p:sp>
      <p:pic>
        <p:nvPicPr>
          <p:cNvPr id="4" name="Picture 3" descr="degeneracy.png"/>
          <p:cNvPicPr>
            <a:picLocks noChangeAspect="1"/>
          </p:cNvPicPr>
          <p:nvPr/>
        </p:nvPicPr>
        <p:blipFill>
          <a:blip r:embed="rId3"/>
          <a:stretch>
            <a:fillRect/>
          </a:stretch>
        </p:blipFill>
        <p:spPr>
          <a:xfrm>
            <a:off x="548640" y="1325880"/>
            <a:ext cx="11064240" cy="2615184"/>
          </a:xfrm>
          <a:prstGeom prst="rect">
            <a:avLst/>
          </a:prstGeom>
        </p:spPr>
      </p:pic>
      <p:sp>
        <p:nvSpPr>
          <p:cNvPr id="5" name="TextBox 4"/>
          <p:cNvSpPr txBox="1"/>
          <p:nvPr/>
        </p:nvSpPr>
        <p:spPr>
          <a:xfrm>
            <a:off x="548640" y="4206240"/>
            <a:ext cx="11064240" cy="2194560"/>
          </a:xfrm>
          <a:prstGeom prst="rect">
            <a:avLst/>
          </a:prstGeom>
          <a:noFill/>
        </p:spPr>
        <p:txBody>
          <a:bodyPr wrap="square" lIns="0" rIns="0" tIns="0" bIns="0">
            <a:spAutoFit/>
          </a:bodyPr>
          <a:lstStyle/>
          <a:p>
            <a:pPr marL="228600" indent="-228600">
              <a:spcAft>
                <a:spcPts val="900"/>
              </a:spcAft>
              <a:buChar char="•"/>
            </a:pPr>
            <a:r>
              <a:rPr sz="1500" b="1">
                <a:solidFill>
                  <a:srgbClr val="1C243A"/>
                </a:solidFill>
                <a:latin typeface="Calibri"/>
              </a:rPr>
              <a:t>Same histogram, many answers: </a:t>
            </a:r>
            <a:r>
              <a:rPr sz="1500" b="0">
                <a:solidFill>
                  <a:srgbClr val="1C243A"/>
                </a:solidFill>
                <a:latin typeface="Calibri"/>
              </a:rPr>
              <a:t>λ from 0.3 to 4 fits equally well; only λ·k0 (≈ the mean burst size) is fixed.</a:t>
            </a:r>
          </a:p>
          <a:p>
            <a:pPr marL="228600" indent="-228600">
              <a:spcAft>
                <a:spcPts val="900"/>
              </a:spcAft>
              <a:buChar char="•"/>
            </a:pPr>
            <a:r>
              <a:rPr sz="1500" b="1">
                <a:solidFill>
                  <a:srgbClr val="1C243A"/>
                </a:solidFill>
                <a:latin typeface="Calibri"/>
              </a:rPr>
              <a:t>Known truth, poor recovery: </a:t>
            </a:r>
            <a:r>
              <a:rPr sz="1500" b="0">
                <a:solidFill>
                  <a:srgbClr val="1C243A"/>
                </a:solidFill>
                <a:latin typeface="Calibri"/>
              </a:rPr>
              <a:t>fitted λ within 2x of the true λ in only 44% of simulated datasets (range 0.05-5.7).</a:t>
            </a:r>
          </a:p>
          <a:p>
            <a:pPr marL="228600" indent="-228600">
              <a:spcAft>
                <a:spcPts val="900"/>
              </a:spcAft>
              <a:buChar char="•"/>
            </a:pPr>
            <a:r>
              <a:rPr sz="1500" b="1">
                <a:solidFill>
                  <a:srgbClr val="1C243A"/>
                </a:solidFill>
                <a:latin typeface="Calibri"/>
              </a:rPr>
              <a:t>Integer λ in the manuscript </a:t>
            </a:r>
            <a:r>
              <a:rPr sz="1500" b="0">
                <a:solidFill>
                  <a:srgbClr val="1C243A"/>
                </a:solidFill>
                <a:latin typeface="Calibri"/>
              </a:rPr>
              <a:t>hides this: the grid search picks one point on a flat ridge.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The manuscript’s fit returns λ ≈ 2-3 whatever the truth</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7</a:t>
            </a:r>
          </a:p>
        </p:txBody>
      </p:sp>
      <p:pic>
        <p:nvPicPr>
          <p:cNvPr id="4" name="Picture 3" descr="ms_rec_lambda.png"/>
          <p:cNvPicPr>
            <a:picLocks noChangeAspect="1"/>
          </p:cNvPicPr>
          <p:nvPr/>
        </p:nvPicPr>
        <p:blipFill>
          <a:blip r:embed="rId3"/>
          <a:stretch>
            <a:fillRect/>
          </a:stretch>
        </p:blipFill>
        <p:spPr>
          <a:xfrm>
            <a:off x="548640" y="1325880"/>
            <a:ext cx="3794760" cy="2640256"/>
          </a:xfrm>
          <a:prstGeom prst="rect">
            <a:avLst/>
          </a:prstGeom>
        </p:spPr>
      </p:pic>
      <p:pic>
        <p:nvPicPr>
          <p:cNvPr id="5" name="Picture 4" descr="ms_rec_lamk0.png"/>
          <p:cNvPicPr>
            <a:picLocks noChangeAspect="1"/>
          </p:cNvPicPr>
          <p:nvPr/>
        </p:nvPicPr>
        <p:blipFill>
          <a:blip r:embed="rId4"/>
          <a:stretch>
            <a:fillRect/>
          </a:stretch>
        </p:blipFill>
        <p:spPr>
          <a:xfrm>
            <a:off x="4480560" y="1325880"/>
            <a:ext cx="3794760" cy="2635385"/>
          </a:xfrm>
          <a:prstGeom prst="rect">
            <a:avLst/>
          </a:prstGeom>
        </p:spPr>
      </p:pic>
      <p:sp>
        <p:nvSpPr>
          <p:cNvPr id="6" name="TextBox 5"/>
          <p:cNvSpPr txBox="1"/>
          <p:nvPr/>
        </p:nvSpPr>
        <p:spPr>
          <a:xfrm>
            <a:off x="548640" y="4069080"/>
            <a:ext cx="3657600" cy="365760"/>
          </a:xfrm>
          <a:prstGeom prst="rect">
            <a:avLst/>
          </a:prstGeom>
          <a:noFill/>
        </p:spPr>
        <p:txBody>
          <a:bodyPr wrap="square" anchor="t" lIns="0" rIns="0" tIns="0" bIns="0">
            <a:spAutoFit/>
          </a:bodyPr>
          <a:lstStyle/>
          <a:p>
            <a:pPr algn="l">
              <a:spcAft>
                <a:spcPts val="600"/>
              </a:spcAft>
            </a:pPr>
            <a:r>
              <a:rPr sz="1300" b="1" i="0">
                <a:solidFill>
                  <a:srgbClr val="D9483B"/>
                </a:solidFill>
                <a:latin typeface="Calibri"/>
              </a:rPr>
              <a:t>Fitted λ (dotted: truth)</a:t>
            </a:r>
          </a:p>
        </p:txBody>
      </p:sp>
      <p:sp>
        <p:nvSpPr>
          <p:cNvPr id="7" name="TextBox 6"/>
          <p:cNvSpPr txBox="1"/>
          <p:nvPr/>
        </p:nvSpPr>
        <p:spPr>
          <a:xfrm>
            <a:off x="4480560" y="4069080"/>
            <a:ext cx="3657600" cy="365760"/>
          </a:xfrm>
          <a:prstGeom prst="rect">
            <a:avLst/>
          </a:prstGeom>
          <a:noFill/>
        </p:spPr>
        <p:txBody>
          <a:bodyPr wrap="square" anchor="t" lIns="0" rIns="0" tIns="0" bIns="0">
            <a:spAutoFit/>
          </a:bodyPr>
          <a:lstStyle/>
          <a:p>
            <a:pPr algn="l">
              <a:spcAft>
                <a:spcPts val="600"/>
              </a:spcAft>
            </a:pPr>
            <a:r>
              <a:rPr sz="1300" b="1" i="0">
                <a:solidFill>
                  <a:srgbClr val="1F7A74"/>
                </a:solidFill>
                <a:latin typeface="Calibri"/>
              </a:rPr>
              <a:t>Fitted λ·k0 (dotted: truth)</a:t>
            </a:r>
          </a:p>
        </p:txBody>
      </p:sp>
      <p:sp>
        <p:nvSpPr>
          <p:cNvPr id="8" name="Rounded Rectangle 7"/>
          <p:cNvSpPr/>
          <p:nvPr/>
        </p:nvSpPr>
        <p:spPr>
          <a:xfrm>
            <a:off x="8412480" y="1371600"/>
            <a:ext cx="320040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41080" y="1508760"/>
            <a:ext cx="2743200" cy="685800"/>
          </a:xfrm>
          <a:prstGeom prst="rect">
            <a:avLst/>
          </a:prstGeom>
          <a:noFill/>
        </p:spPr>
        <p:txBody>
          <a:bodyPr wrap="square" anchor="t" lIns="0" rIns="0" tIns="0" bIns="0">
            <a:spAutoFit/>
          </a:bodyPr>
          <a:lstStyle/>
          <a:p>
            <a:pPr algn="l">
              <a:spcAft>
                <a:spcPts val="600"/>
              </a:spcAft>
            </a:pPr>
            <a:r>
              <a:rPr sz="3400" b="1" i="0">
                <a:solidFill>
                  <a:srgbClr val="D9483B"/>
                </a:solidFill>
                <a:latin typeface="Cambria"/>
              </a:rPr>
              <a:t>λ ≈ 2-3</a:t>
            </a:r>
          </a:p>
        </p:txBody>
      </p:sp>
      <p:sp>
        <p:nvSpPr>
          <p:cNvPr id="10" name="TextBox 9"/>
          <p:cNvSpPr txBox="1"/>
          <p:nvPr/>
        </p:nvSpPr>
        <p:spPr>
          <a:xfrm>
            <a:off x="8641080" y="2176272"/>
            <a:ext cx="274320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for every true λ from 0.5 to 5, with all six scores</a:t>
            </a:r>
          </a:p>
        </p:txBody>
      </p:sp>
      <p:sp>
        <p:nvSpPr>
          <p:cNvPr id="11" name="Rounded Rectangle 10"/>
          <p:cNvSpPr/>
          <p:nvPr/>
        </p:nvSpPr>
        <p:spPr>
          <a:xfrm>
            <a:off x="8412480" y="2971800"/>
            <a:ext cx="320040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41080" y="3108960"/>
            <a:ext cx="2743200" cy="685800"/>
          </a:xfrm>
          <a:prstGeom prst="rect">
            <a:avLst/>
          </a:prstGeom>
          <a:noFill/>
        </p:spPr>
        <p:txBody>
          <a:bodyPr wrap="square" anchor="t" lIns="0" rIns="0" tIns="0" bIns="0">
            <a:spAutoFit/>
          </a:bodyPr>
          <a:lstStyle/>
          <a:p>
            <a:pPr algn="l">
              <a:spcAft>
                <a:spcPts val="600"/>
              </a:spcAft>
            </a:pPr>
            <a:r>
              <a:rPr sz="3400" b="1" i="0">
                <a:solidFill>
                  <a:srgbClr val="5F6778"/>
                </a:solidFill>
                <a:latin typeface="Cambria"/>
              </a:rPr>
              <a:t>30 → 130</a:t>
            </a:r>
          </a:p>
        </p:txBody>
      </p:sp>
      <p:sp>
        <p:nvSpPr>
          <p:cNvPr id="13" name="TextBox 12"/>
          <p:cNvSpPr txBox="1"/>
          <p:nvPr/>
        </p:nvSpPr>
        <p:spPr>
          <a:xfrm>
            <a:off x="8641080" y="3776472"/>
            <a:ext cx="274320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fitted k0 (true value 60) drifts with λ</a:t>
            </a:r>
          </a:p>
        </p:txBody>
      </p:sp>
      <p:sp>
        <p:nvSpPr>
          <p:cNvPr id="14" name="TextBox 13"/>
          <p:cNvSpPr txBox="1"/>
          <p:nvPr/>
        </p:nvSpPr>
        <p:spPr>
          <a:xfrm>
            <a:off x="548640" y="4754880"/>
            <a:ext cx="7680960" cy="1463040"/>
          </a:xfrm>
          <a:prstGeom prst="rect">
            <a:avLst/>
          </a:prstGeom>
          <a:noFill/>
        </p:spPr>
        <p:txBody>
          <a:bodyPr wrap="square" anchor="t" lIns="0" rIns="0" tIns="0" bIns="0">
            <a:spAutoFit/>
          </a:bodyPr>
          <a:lstStyle/>
          <a:p>
            <a:pPr algn="l">
              <a:spcAft>
                <a:spcPts val="600"/>
              </a:spcAft>
            </a:pPr>
            <a:r>
              <a:rPr sz="1300" b="0" i="0">
                <a:solidFill>
                  <a:srgbClr val="5F6778"/>
                </a:solidFill>
                <a:latin typeface="Calibri"/>
              </a:rPr>
              <a:t>Why: smoothing merges and misses bursts, so the detected distribution has the same shape for any λ; and Eq. (1.9) ignores whole units and invisible 0-unit bursts.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Fig. 13 revisited: the true λ is not a close runner-up</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8</a:t>
            </a:r>
          </a:p>
        </p:txBody>
      </p:sp>
      <p:pic>
        <p:nvPicPr>
          <p:cNvPr id="4" name="Picture 3" descr="fig13_choice.png"/>
          <p:cNvPicPr>
            <a:picLocks noChangeAspect="1"/>
          </p:cNvPicPr>
          <p:nvPr/>
        </p:nvPicPr>
        <p:blipFill>
          <a:blip r:embed="rId3"/>
          <a:stretch>
            <a:fillRect/>
          </a:stretch>
        </p:blipFill>
        <p:spPr>
          <a:xfrm>
            <a:off x="548640" y="1280160"/>
            <a:ext cx="11064240" cy="2313432"/>
          </a:xfrm>
          <a:prstGeom prst="rect">
            <a:avLst/>
          </a:prstGeom>
        </p:spPr>
      </p:pic>
      <p:sp>
        <p:nvSpPr>
          <p:cNvPr id="5" name="Rounded Rectangle 4"/>
          <p:cNvSpPr/>
          <p:nvPr/>
        </p:nvSpPr>
        <p:spPr>
          <a:xfrm>
            <a:off x="548640" y="3886200"/>
            <a:ext cx="260604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023360"/>
            <a:ext cx="2148840" cy="685800"/>
          </a:xfrm>
          <a:prstGeom prst="rect">
            <a:avLst/>
          </a:prstGeom>
          <a:noFill/>
        </p:spPr>
        <p:txBody>
          <a:bodyPr wrap="square" anchor="t" lIns="0" rIns="0" tIns="0" bIns="0">
            <a:spAutoFit/>
          </a:bodyPr>
          <a:lstStyle/>
          <a:p>
            <a:pPr algn="l">
              <a:spcAft>
                <a:spcPts val="600"/>
              </a:spcAft>
            </a:pPr>
            <a:r>
              <a:rPr sz="3400" b="1" i="0">
                <a:solidFill>
                  <a:srgbClr val="D9483B"/>
                </a:solidFill>
                <a:latin typeface="Cambria"/>
              </a:rPr>
              <a:t>62%</a:t>
            </a:r>
          </a:p>
        </p:txBody>
      </p:sp>
      <p:sp>
        <p:nvSpPr>
          <p:cNvPr id="7" name="TextBox 6"/>
          <p:cNvSpPr txBox="1"/>
          <p:nvPr/>
        </p:nvSpPr>
        <p:spPr>
          <a:xfrm>
            <a:off x="777240" y="4690872"/>
            <a:ext cx="214884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true λ in the top 3 of 5 candidates</a:t>
            </a:r>
          </a:p>
        </p:txBody>
      </p:sp>
      <p:sp>
        <p:nvSpPr>
          <p:cNvPr id="8" name="Rounded Rectangle 7"/>
          <p:cNvSpPr/>
          <p:nvPr/>
        </p:nvSpPr>
        <p:spPr>
          <a:xfrm>
            <a:off x="3337560" y="3886200"/>
            <a:ext cx="260604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66160" y="4023360"/>
            <a:ext cx="2148840" cy="685800"/>
          </a:xfrm>
          <a:prstGeom prst="rect">
            <a:avLst/>
          </a:prstGeom>
          <a:noFill/>
        </p:spPr>
        <p:txBody>
          <a:bodyPr wrap="square" anchor="t" lIns="0" rIns="0" tIns="0" bIns="0">
            <a:spAutoFit/>
          </a:bodyPr>
          <a:lstStyle/>
          <a:p>
            <a:pPr algn="l">
              <a:spcAft>
                <a:spcPts val="600"/>
              </a:spcAft>
            </a:pPr>
            <a:r>
              <a:rPr sz="3400" b="1" i="0">
                <a:solidFill>
                  <a:srgbClr val="5F6778"/>
                </a:solidFill>
                <a:latin typeface="Cambria"/>
              </a:rPr>
              <a:t>60%</a:t>
            </a:r>
          </a:p>
        </p:txBody>
      </p:sp>
      <p:sp>
        <p:nvSpPr>
          <p:cNvPr id="10" name="TextBox 9"/>
          <p:cNvSpPr txBox="1"/>
          <p:nvPr/>
        </p:nvSpPr>
        <p:spPr>
          <a:xfrm>
            <a:off x="3566160" y="4690872"/>
            <a:ext cx="214884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a random pick of 3 of 5</a:t>
            </a:r>
          </a:p>
        </p:txBody>
      </p:sp>
      <p:sp>
        <p:nvSpPr>
          <p:cNvPr id="11" name="Rounded Rectangle 10"/>
          <p:cNvSpPr/>
          <p:nvPr/>
        </p:nvSpPr>
        <p:spPr>
          <a:xfrm>
            <a:off x="6126480" y="3886200"/>
            <a:ext cx="260604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4023360"/>
            <a:ext cx="2148840" cy="685800"/>
          </a:xfrm>
          <a:prstGeom prst="rect">
            <a:avLst/>
          </a:prstGeom>
          <a:noFill/>
        </p:spPr>
        <p:txBody>
          <a:bodyPr wrap="square" anchor="t" lIns="0" rIns="0" tIns="0" bIns="0">
            <a:spAutoFit/>
          </a:bodyPr>
          <a:lstStyle/>
          <a:p>
            <a:pPr algn="l">
              <a:spcAft>
                <a:spcPts val="600"/>
              </a:spcAft>
            </a:pPr>
            <a:r>
              <a:rPr sz="3400" b="1" i="0">
                <a:solidFill>
                  <a:srgbClr val="5F6778"/>
                </a:solidFill>
                <a:latin typeface="Cambria"/>
              </a:rPr>
              <a:t>71%</a:t>
            </a:r>
          </a:p>
        </p:txBody>
      </p:sp>
      <p:sp>
        <p:nvSpPr>
          <p:cNvPr id="13" name="TextBox 12"/>
          <p:cNvSpPr txBox="1"/>
          <p:nvPr/>
        </p:nvSpPr>
        <p:spPr>
          <a:xfrm>
            <a:off x="6355080" y="4690872"/>
            <a:ext cx="214884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always guessing λ = 2, 3 or 4 (ignores the data)</a:t>
            </a:r>
          </a:p>
        </p:txBody>
      </p:sp>
      <p:sp>
        <p:nvSpPr>
          <p:cNvPr id="14" name="Rounded Rectangle 13"/>
          <p:cNvSpPr/>
          <p:nvPr/>
        </p:nvSpPr>
        <p:spPr>
          <a:xfrm>
            <a:off x="8915400" y="3886200"/>
            <a:ext cx="269748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0" y="4023360"/>
            <a:ext cx="2240280" cy="685800"/>
          </a:xfrm>
          <a:prstGeom prst="rect">
            <a:avLst/>
          </a:prstGeom>
          <a:noFill/>
        </p:spPr>
        <p:txBody>
          <a:bodyPr wrap="square" anchor="t" lIns="0" rIns="0" tIns="0" bIns="0">
            <a:spAutoFit/>
          </a:bodyPr>
          <a:lstStyle/>
          <a:p>
            <a:pPr algn="l">
              <a:spcAft>
                <a:spcPts val="600"/>
              </a:spcAft>
            </a:pPr>
            <a:r>
              <a:rPr sz="3400" b="1" i="0">
                <a:solidFill>
                  <a:srgbClr val="1F7A74"/>
                </a:solidFill>
                <a:latin typeface="Cambria"/>
              </a:rPr>
              <a:t>1 → 2 → 4</a:t>
            </a:r>
          </a:p>
        </p:txBody>
      </p:sp>
      <p:sp>
        <p:nvSpPr>
          <p:cNvPr id="16" name="TextBox 15"/>
          <p:cNvSpPr txBox="1"/>
          <p:nvPr/>
        </p:nvSpPr>
        <p:spPr>
          <a:xfrm>
            <a:off x="9144000" y="4690872"/>
            <a:ext cx="224028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fitted λ for the same true λ = 2 as SNR drops from 5 to 0.5</a:t>
            </a:r>
          </a:p>
        </p:txBody>
      </p:sp>
      <p:sp>
        <p:nvSpPr>
          <p:cNvPr id="17" name="TextBox 16"/>
          <p:cNvSpPr txBox="1"/>
          <p:nvPr/>
        </p:nvSpPr>
        <p:spPr>
          <a:xfrm>
            <a:off x="548640" y="5532120"/>
            <a:ext cx="11064240" cy="822960"/>
          </a:xfrm>
          <a:prstGeom prst="rect">
            <a:avLst/>
          </a:prstGeom>
          <a:noFill/>
        </p:spPr>
        <p:txBody>
          <a:bodyPr wrap="square" anchor="t" lIns="0" rIns="0" tIns="0" bIns="0">
            <a:spAutoFit/>
          </a:bodyPr>
          <a:lstStyle/>
          <a:p>
            <a:pPr algn="l">
              <a:spcAft>
                <a:spcPts val="600"/>
              </a:spcAft>
            </a:pPr>
            <a:r>
              <a:rPr sz="1400" b="0" i="0">
                <a:solidFill>
                  <a:srgbClr val="1C243A"/>
                </a:solidFill>
                <a:latin typeface="Calibri"/>
              </a:rPr>
              <a:t>The method has a built-in answer of λ ≈ 2-3: it is right only when the truth happens to sit there, and the chosen λ follows the noise level, not the number of units.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Shape fitting recovers λ·k0, but not λ</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9</a:t>
            </a:r>
          </a:p>
        </p:txBody>
      </p:sp>
      <p:pic>
        <p:nvPicPr>
          <p:cNvPr id="4" name="Picture 3" descr="shape_c_lambda.png"/>
          <p:cNvPicPr>
            <a:picLocks noChangeAspect="1"/>
          </p:cNvPicPr>
          <p:nvPr/>
        </p:nvPicPr>
        <p:blipFill>
          <a:blip r:embed="rId3"/>
          <a:stretch>
            <a:fillRect/>
          </a:stretch>
        </p:blipFill>
        <p:spPr>
          <a:xfrm>
            <a:off x="548640" y="1371600"/>
            <a:ext cx="4183966" cy="3931920"/>
          </a:xfrm>
          <a:prstGeom prst="rect">
            <a:avLst/>
          </a:prstGeom>
        </p:spPr>
      </p:pic>
      <p:pic>
        <p:nvPicPr>
          <p:cNvPr id="5" name="Picture 4" descr="shape_c.png"/>
          <p:cNvPicPr>
            <a:picLocks noChangeAspect="1"/>
          </p:cNvPicPr>
          <p:nvPr/>
        </p:nvPicPr>
        <p:blipFill>
          <a:blip r:embed="rId4"/>
          <a:stretch>
            <a:fillRect/>
          </a:stretch>
        </p:blipFill>
        <p:spPr>
          <a:xfrm>
            <a:off x="6126480" y="1371600"/>
            <a:ext cx="4183966" cy="3931920"/>
          </a:xfrm>
          <a:prstGeom prst="rect">
            <a:avLst/>
          </a:prstGeom>
        </p:spPr>
      </p:pic>
      <p:sp>
        <p:nvSpPr>
          <p:cNvPr id="6" name="TextBox 5"/>
          <p:cNvSpPr txBox="1"/>
          <p:nvPr/>
        </p:nvSpPr>
        <p:spPr>
          <a:xfrm>
            <a:off x="548640" y="5486400"/>
            <a:ext cx="5394960" cy="822960"/>
          </a:xfrm>
          <a:prstGeom prst="rect">
            <a:avLst/>
          </a:prstGeom>
          <a:noFill/>
        </p:spPr>
        <p:txBody>
          <a:bodyPr wrap="square" anchor="t" lIns="0" rIns="0" tIns="0" bIns="0">
            <a:spAutoFit/>
          </a:bodyPr>
          <a:lstStyle/>
          <a:p>
            <a:pPr algn="l">
              <a:spcAft>
                <a:spcPts val="600"/>
              </a:spcAft>
            </a:pPr>
            <a:r>
              <a:rPr sz="1600" b="1" i="0">
                <a:solidFill>
                  <a:srgbClr val="D9483B"/>
                </a:solidFill>
                <a:latin typeface="Calibri"/>
              </a:rPr>
              <a:t>Fitted λ stays ≈ 2 for true λ 0.5-5</a:t>
            </a:r>
          </a:p>
        </p:txBody>
      </p:sp>
      <p:sp>
        <p:nvSpPr>
          <p:cNvPr id="7" name="TextBox 6"/>
          <p:cNvSpPr txBox="1"/>
          <p:nvPr/>
        </p:nvSpPr>
        <p:spPr>
          <a:xfrm>
            <a:off x="6126480" y="5486400"/>
            <a:ext cx="5394960" cy="822960"/>
          </a:xfrm>
          <a:prstGeom prst="rect">
            <a:avLst/>
          </a:prstGeom>
          <a:noFill/>
        </p:spPr>
        <p:txBody>
          <a:bodyPr wrap="square" anchor="t" lIns="0" rIns="0" tIns="0" bIns="0">
            <a:spAutoFit/>
          </a:bodyPr>
          <a:lstStyle/>
          <a:p>
            <a:pPr algn="l">
              <a:spcAft>
                <a:spcPts val="600"/>
              </a:spcAft>
            </a:pPr>
            <a:r>
              <a:rPr sz="1600" b="1" i="0">
                <a:solidFill>
                  <a:srgbClr val="1F7A74"/>
                </a:solidFill>
                <a:latin typeface="Calibri"/>
              </a:rPr>
              <a:t>Fitted λ·k0 tracks the true value (0.8-1.35x)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Proposed parameters, each with its noise control</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10</a:t>
            </a:r>
          </a:p>
        </p:txBody>
      </p:sp>
      <p:graphicFrame>
        <p:nvGraphicFramePr>
          <p:cNvPr id="4" name="Table 3"/>
          <p:cNvGraphicFramePr>
            <a:graphicFrameLocks noGrp="1"/>
          </p:cNvGraphicFramePr>
          <p:nvPr/>
        </p:nvGraphicFramePr>
        <p:xfrm>
          <a:off x="548640" y="1325880"/>
          <a:ext cx="11064240" cy="4846320"/>
        </p:xfrm>
        <a:graphic>
          <a:graphicData uri="http://schemas.openxmlformats.org/drawingml/2006/table">
            <a:tbl>
              <a:tblPr firstRow="1" bandRow="1">
                <a:tableStyleId>{5C22544A-7EE6-4342-B048-85BDC9FD1C3A}</a:tableStyleId>
              </a:tblPr>
              <a:tblGrid>
                <a:gridCol w="1234440"/>
                <a:gridCol w="914400"/>
                <a:gridCol w="914400"/>
                <a:gridCol w="1371600"/>
                <a:gridCol w="1280160"/>
                <a:gridCol w="1325880"/>
                <a:gridCol w="1325880"/>
                <a:gridCol w="1371600"/>
                <a:gridCol w="1325880"/>
              </a:tblGrid>
              <a:tr h="484632">
                <a:tc>
                  <a:txBody>
                    <a:bodyPr/>
                    <a:lstStyle/>
                    <a:p>
                      <a:pPr algn="l"/>
                      <a:r>
                        <a:rPr sz="1100" b="1">
                          <a:solidFill>
                            <a:srgbClr val="FFFFFF"/>
                          </a:solidFill>
                          <a:latin typeface="Calibri"/>
                        </a:rPr>
                        <a:t>Dataset</a:t>
                      </a:r>
                    </a:p>
                  </a:txBody>
                  <a:tcPr marL="45720" marR="45720" anchor="ctr">
                    <a:solidFill>
                      <a:srgbClr val="1C243A"/>
                    </a:solidFill>
                  </a:tcPr>
                </a:tc>
                <a:tc>
                  <a:txBody>
                    <a:bodyPr/>
                    <a:lstStyle/>
                    <a:p>
                      <a:pPr algn="ctr"/>
                      <a:r>
                        <a:rPr sz="1100" b="1">
                          <a:solidFill>
                            <a:srgbClr val="FFFFFF"/>
                          </a:solidFill>
                          <a:latin typeface="Calibri"/>
                        </a:rPr>
                        <a:t>Granules</a:t>
                      </a:r>
                    </a:p>
                    <a:p>
                      <a:pPr algn="ctr"/>
                      <a:r>
                        <a:rPr sz="1100" b="1">
                          <a:solidFill>
                            <a:srgbClr val="FFFFFF"/>
                          </a:solidFill>
                          <a:latin typeface="Calibri"/>
                        </a:rPr>
                        <a:t>(movies)</a:t>
                      </a:r>
                    </a:p>
                  </a:txBody>
                  <a:tcPr marL="45720" marR="45720" anchor="ctr">
                    <a:solidFill>
                      <a:srgbClr val="1C243A"/>
                    </a:solidFill>
                  </a:tcPr>
                </a:tc>
                <a:tc>
                  <a:txBody>
                    <a:bodyPr/>
                    <a:lstStyle/>
                    <a:p>
                      <a:pPr algn="ctr"/>
                      <a:r>
                        <a:rPr sz="1100" b="1">
                          <a:solidFill>
                            <a:srgbClr val="FFFFFF"/>
                          </a:solidFill>
                          <a:latin typeface="Calibri"/>
                        </a:rPr>
                        <a:t>Brightness</a:t>
                      </a:r>
                    </a:p>
                    <a:p>
                      <a:pPr algn="ctr"/>
                      <a:r>
                        <a:rPr sz="1100" b="1">
                          <a:solidFill>
                            <a:srgbClr val="FFFFFF"/>
                          </a:solidFill>
                          <a:latin typeface="Calibri"/>
                        </a:rPr>
                        <a:t>(a.u.)</a:t>
                      </a:r>
                    </a:p>
                  </a:txBody>
                  <a:tcPr marL="45720" marR="45720" anchor="ctr">
                    <a:solidFill>
                      <a:srgbClr val="1C243A"/>
                    </a:solidFill>
                  </a:tcPr>
                </a:tc>
                <a:tc>
                  <a:txBody>
                    <a:bodyPr/>
                    <a:lstStyle/>
                    <a:p>
                      <a:pPr algn="ctr"/>
                      <a:r>
                        <a:rPr sz="1100" b="1">
                          <a:solidFill>
                            <a:srgbClr val="FFFFFF"/>
                          </a:solidFill>
                          <a:latin typeface="Calibri"/>
                        </a:rPr>
                        <a:t>Burst size,</a:t>
                      </a:r>
                    </a:p>
                    <a:p>
                      <a:pPr algn="ctr"/>
                      <a:r>
                        <a:rPr sz="1100" b="1">
                          <a:solidFill>
                            <a:srgbClr val="FFFFFF"/>
                          </a:solidFill>
                          <a:latin typeface="Calibri"/>
                        </a:rPr>
                        <a:t>granules / noise (%)</a:t>
                      </a:r>
                    </a:p>
                  </a:txBody>
                  <a:tcPr marL="45720" marR="45720" anchor="ctr">
                    <a:solidFill>
                      <a:srgbClr val="1C243A"/>
                    </a:solidFill>
                  </a:tcPr>
                </a:tc>
                <a:tc>
                  <a:txBody>
                    <a:bodyPr/>
                    <a:lstStyle/>
                    <a:p>
                      <a:pPr algn="ctr"/>
                      <a:r>
                        <a:rPr sz="1100" b="1">
                          <a:solidFill>
                            <a:srgbClr val="FFFFFF"/>
                          </a:solidFill>
                          <a:latin typeface="Calibri"/>
                        </a:rPr>
                        <a:t>Beyond</a:t>
                      </a:r>
                    </a:p>
                    <a:p>
                      <a:pPr algn="ctr"/>
                      <a:r>
                        <a:rPr sz="1100" b="1">
                          <a:solidFill>
                            <a:srgbClr val="FFFFFF"/>
                          </a:solidFill>
                          <a:latin typeface="Calibri"/>
                        </a:rPr>
                        <a:t>noise (pts)</a:t>
                      </a:r>
                    </a:p>
                  </a:txBody>
                  <a:tcPr marL="45720" marR="45720" anchor="ctr">
                    <a:solidFill>
                      <a:srgbClr val="1C243A"/>
                    </a:solidFill>
                  </a:tcPr>
                </a:tc>
                <a:tc>
                  <a:txBody>
                    <a:bodyPr/>
                    <a:lstStyle/>
                    <a:p>
                      <a:pPr algn="ctr"/>
                      <a:r>
                        <a:rPr sz="1100" b="1">
                          <a:solidFill>
                            <a:srgbClr val="FFFFFF"/>
                          </a:solidFill>
                          <a:latin typeface="Calibri"/>
                        </a:rPr>
                        <a:t>Median burst</a:t>
                      </a:r>
                    </a:p>
                    <a:p>
                      <a:pPr algn="ctr"/>
                      <a:r>
                        <a:rPr sz="1100" b="1">
                          <a:solidFill>
                            <a:srgbClr val="FFFFFF"/>
                          </a:solidFill>
                          <a:latin typeface="Calibri"/>
                        </a:rPr>
                        <a:t>(a.u.)</a:t>
                      </a:r>
                    </a:p>
                  </a:txBody>
                  <a:tcPr marL="45720" marR="45720" anchor="ctr">
                    <a:solidFill>
                      <a:srgbClr val="1C243A"/>
                    </a:solidFill>
                  </a:tcPr>
                </a:tc>
                <a:tc>
                  <a:txBody>
                    <a:bodyPr/>
                    <a:lstStyle/>
                    <a:p>
                      <a:pPr algn="ctr"/>
                      <a:r>
                        <a:rPr sz="1100" b="1">
                          <a:solidFill>
                            <a:srgbClr val="FFFFFF"/>
                          </a:solidFill>
                          <a:latin typeface="Calibri"/>
                        </a:rPr>
                        <a:t>λ·k0, shape</a:t>
                      </a:r>
                    </a:p>
                    <a:p>
                      <a:pPr algn="ctr"/>
                      <a:r>
                        <a:rPr sz="1100" b="1">
                          <a:solidFill>
                            <a:srgbClr val="FFFFFF"/>
                          </a:solidFill>
                          <a:latin typeface="Calibri"/>
                        </a:rPr>
                        <a:t>fit (a.u.)</a:t>
                      </a:r>
                    </a:p>
                  </a:txBody>
                  <a:tcPr marL="45720" marR="45720" anchor="ctr">
                    <a:solidFill>
                      <a:srgbClr val="1C243A"/>
                    </a:solidFill>
                  </a:tcPr>
                </a:tc>
                <a:tc>
                  <a:txBody>
                    <a:bodyPr/>
                    <a:lstStyle/>
                    <a:p>
                      <a:pPr algn="ctr"/>
                      <a:r>
                        <a:rPr sz="1100" b="1">
                          <a:solidFill>
                            <a:srgbClr val="FFFFFF"/>
                          </a:solidFill>
                          <a:latin typeface="Calibri"/>
                        </a:rPr>
                        <a:t>Turnover beyond</a:t>
                      </a:r>
                    </a:p>
                    <a:p>
                      <a:pPr algn="ctr"/>
                      <a:r>
                        <a:rPr sz="1100" b="1">
                          <a:solidFill>
                            <a:srgbClr val="FFFFFF"/>
                          </a:solidFill>
                          <a:latin typeface="Calibri"/>
                        </a:rPr>
                        <a:t>noise (%/h)</a:t>
                      </a:r>
                    </a:p>
                  </a:txBody>
                  <a:tcPr marL="45720" marR="45720" anchor="ctr">
                    <a:solidFill>
                      <a:srgbClr val="1C243A"/>
                    </a:solidFill>
                  </a:tcPr>
                </a:tc>
                <a:tc>
                  <a:txBody>
                    <a:bodyPr/>
                    <a:lstStyle/>
                    <a:p>
                      <a:pPr algn="ctr"/>
                      <a:r>
                        <a:rPr sz="1100" b="1">
                          <a:solidFill>
                            <a:srgbClr val="FFFFFF"/>
                          </a:solidFill>
                          <a:latin typeface="Calibri"/>
                        </a:rPr>
                        <a:t>Net change</a:t>
                      </a:r>
                    </a:p>
                    <a:p>
                      <a:pPr algn="ctr"/>
                      <a:r>
                        <a:rPr sz="1100" b="1">
                          <a:solidFill>
                            <a:srgbClr val="FFFFFF"/>
                          </a:solidFill>
                          <a:latin typeface="Calibri"/>
                        </a:rPr>
                        <a:t>(%/h)</a:t>
                      </a:r>
                    </a:p>
                  </a:txBody>
                  <a:tcPr marL="45720" marR="45720" anchor="ctr">
                    <a:solidFill>
                      <a:srgbClr val="1C243A"/>
                    </a:solidFill>
                  </a:tcPr>
                </a:tc>
              </a:tr>
              <a:tr h="484632">
                <a:tc>
                  <a:txBody>
                    <a:bodyPr/>
                    <a:lstStyle/>
                    <a:p>
                      <a:pPr algn="l"/>
                      <a:r>
                        <a:rPr sz="1100" b="1">
                          <a:solidFill>
                            <a:srgbClr val="1C243A"/>
                          </a:solidFill>
                          <a:latin typeface="Calibri"/>
                        </a:rPr>
                        <a:t>PP7, 4x</a:t>
                      </a:r>
                    </a:p>
                  </a:txBody>
                  <a:tcPr marL="45720" marR="45720" anchor="ctr">
                    <a:solidFill>
                      <a:srgbClr val="FFFFFF"/>
                    </a:solidFill>
                  </a:tcPr>
                </a:tc>
                <a:tc>
                  <a:txBody>
                    <a:bodyPr/>
                    <a:lstStyle/>
                    <a:p>
                      <a:pPr algn="ctr"/>
                      <a:r>
                        <a:rPr sz="1100" b="0">
                          <a:solidFill>
                            <a:srgbClr val="1C243A"/>
                          </a:solidFill>
                          <a:latin typeface="Calibri"/>
                        </a:rPr>
                        <a:t>76 (9)</a:t>
                      </a:r>
                    </a:p>
                  </a:txBody>
                  <a:tcPr marL="45720" marR="45720" anchor="ctr">
                    <a:solidFill>
                      <a:srgbClr val="FFFFFF"/>
                    </a:solidFill>
                  </a:tcPr>
                </a:tc>
                <a:tc>
                  <a:txBody>
                    <a:bodyPr/>
                    <a:lstStyle/>
                    <a:p>
                      <a:pPr algn="ctr"/>
                      <a:r>
                        <a:rPr sz="1100" b="0">
                          <a:solidFill>
                            <a:srgbClr val="1C243A"/>
                          </a:solidFill>
                          <a:latin typeface="Calibri"/>
                        </a:rPr>
                        <a:t>5644</a:t>
                      </a:r>
                    </a:p>
                  </a:txBody>
                  <a:tcPr marL="45720" marR="45720" anchor="ctr">
                    <a:solidFill>
                      <a:srgbClr val="FFFFFF"/>
                    </a:solidFill>
                  </a:tcPr>
                </a:tc>
                <a:tc>
                  <a:txBody>
                    <a:bodyPr/>
                    <a:lstStyle/>
                    <a:p>
                      <a:pPr algn="ctr"/>
                      <a:r>
                        <a:rPr sz="1100" b="0">
                          <a:solidFill>
                            <a:srgbClr val="1C243A"/>
                          </a:solidFill>
                          <a:latin typeface="Calibri"/>
                        </a:rPr>
                        <a:t>11.0 / 12.3</a:t>
                      </a:r>
                    </a:p>
                  </a:txBody>
                  <a:tcPr marL="45720" marR="45720" anchor="ctr">
                    <a:solidFill>
                      <a:srgbClr val="FFFFFF"/>
                    </a:solidFill>
                  </a:tcPr>
                </a:tc>
                <a:tc>
                  <a:txBody>
                    <a:bodyPr/>
                    <a:lstStyle/>
                    <a:p>
                      <a:pPr algn="ctr"/>
                      <a:r>
                        <a:rPr sz="1100" b="0">
                          <a:solidFill>
                            <a:srgbClr val="1C243A"/>
                          </a:solidFill>
                          <a:latin typeface="Calibri"/>
                        </a:rPr>
                        <a:t>-1.2 [-2.8, 1.1]</a:t>
                      </a:r>
                    </a:p>
                  </a:txBody>
                  <a:tcPr marL="45720" marR="45720" anchor="ctr">
                    <a:solidFill>
                      <a:srgbClr val="FFFFFF"/>
                    </a:solidFill>
                  </a:tcPr>
                </a:tc>
                <a:tc>
                  <a:txBody>
                    <a:bodyPr/>
                    <a:lstStyle/>
                    <a:p>
                      <a:pPr algn="ctr"/>
                      <a:r>
                        <a:rPr sz="1100" b="0">
                          <a:solidFill>
                            <a:srgbClr val="1C243A"/>
                          </a:solidFill>
                          <a:latin typeface="Calibri"/>
                        </a:rPr>
                        <a:t>187 [166, 217]</a:t>
                      </a:r>
                    </a:p>
                  </a:txBody>
                  <a:tcPr marL="45720" marR="45720" anchor="ctr">
                    <a:solidFill>
                      <a:srgbClr val="FFFFFF"/>
                    </a:solidFill>
                  </a:tcPr>
                </a:tc>
                <a:tc>
                  <a:txBody>
                    <a:bodyPr/>
                    <a:lstStyle/>
                    <a:p>
                      <a:pPr algn="ctr"/>
                      <a:r>
                        <a:rPr sz="1100" b="0">
                          <a:solidFill>
                            <a:srgbClr val="1C243A"/>
                          </a:solidFill>
                          <a:latin typeface="Calibri"/>
                        </a:rPr>
                        <a:t>24 [9, 219]</a:t>
                      </a:r>
                    </a:p>
                  </a:txBody>
                  <a:tcPr marL="45720" marR="45720" anchor="ctr">
                    <a:solidFill>
                      <a:srgbClr val="FFFFFF"/>
                    </a:solidFill>
                  </a:tcPr>
                </a:tc>
                <a:tc>
                  <a:txBody>
                    <a:bodyPr/>
                    <a:lstStyle/>
                    <a:p>
                      <a:pPr algn="ctr"/>
                      <a:r>
                        <a:rPr sz="1100" b="0">
                          <a:solidFill>
                            <a:srgbClr val="1C243A"/>
                          </a:solidFill>
                          <a:latin typeface="Calibri"/>
                        </a:rPr>
                        <a:t>1.6 [-5.3, 8.0]</a:t>
                      </a:r>
                    </a:p>
                  </a:txBody>
                  <a:tcPr marL="45720" marR="45720" anchor="ctr">
                    <a:solidFill>
                      <a:srgbClr val="FFFFFF"/>
                    </a:solidFill>
                  </a:tcPr>
                </a:tc>
                <a:tc>
                  <a:txBody>
                    <a:bodyPr/>
                    <a:lstStyle/>
                    <a:p>
                      <a:pPr algn="ctr"/>
                      <a:r>
                        <a:rPr sz="1100" b="0">
                          <a:solidFill>
                            <a:srgbClr val="1C243A"/>
                          </a:solidFill>
                          <a:latin typeface="Calibri"/>
                        </a:rPr>
                        <a:t>0.7 [-3.4, 4.5]</a:t>
                      </a:r>
                    </a:p>
                  </a:txBody>
                  <a:tcPr marL="45720" marR="45720" anchor="ctr">
                    <a:solidFill>
                      <a:srgbClr val="FFFFFF"/>
                    </a:solidFill>
                  </a:tcPr>
                </a:tc>
              </a:tr>
              <a:tr h="484632">
                <a:tc>
                  <a:txBody>
                    <a:bodyPr/>
                    <a:lstStyle/>
                    <a:p>
                      <a:pPr algn="l"/>
                      <a:r>
                        <a:rPr sz="1100" b="1">
                          <a:solidFill>
                            <a:srgbClr val="1C243A"/>
                          </a:solidFill>
                          <a:latin typeface="Calibri"/>
                        </a:rPr>
                        <a:t>PP7-FUS, 4x</a:t>
                      </a:r>
                    </a:p>
                  </a:txBody>
                  <a:tcPr marL="45720" marR="45720" anchor="ctr">
                    <a:solidFill>
                      <a:srgbClr val="EEF2F5"/>
                    </a:solidFill>
                  </a:tcPr>
                </a:tc>
                <a:tc>
                  <a:txBody>
                    <a:bodyPr/>
                    <a:lstStyle/>
                    <a:p>
                      <a:pPr algn="ctr"/>
                      <a:r>
                        <a:rPr sz="1100" b="0">
                          <a:solidFill>
                            <a:srgbClr val="1C243A"/>
                          </a:solidFill>
                          <a:latin typeface="Calibri"/>
                        </a:rPr>
                        <a:t>94 (12)</a:t>
                      </a:r>
                    </a:p>
                  </a:txBody>
                  <a:tcPr marL="45720" marR="45720" anchor="ctr">
                    <a:solidFill>
                      <a:srgbClr val="EEF2F5"/>
                    </a:solidFill>
                  </a:tcPr>
                </a:tc>
                <a:tc>
                  <a:txBody>
                    <a:bodyPr/>
                    <a:lstStyle/>
                    <a:p>
                      <a:pPr algn="ctr"/>
                      <a:r>
                        <a:rPr sz="1100" b="0">
                          <a:solidFill>
                            <a:srgbClr val="1C243A"/>
                          </a:solidFill>
                          <a:latin typeface="Calibri"/>
                        </a:rPr>
                        <a:t>3036</a:t>
                      </a:r>
                    </a:p>
                  </a:txBody>
                  <a:tcPr marL="45720" marR="45720" anchor="ctr">
                    <a:solidFill>
                      <a:srgbClr val="EEF2F5"/>
                    </a:solidFill>
                  </a:tcPr>
                </a:tc>
                <a:tc>
                  <a:txBody>
                    <a:bodyPr/>
                    <a:lstStyle/>
                    <a:p>
                      <a:pPr algn="ctr"/>
                      <a:r>
                        <a:rPr sz="1100" b="0">
                          <a:solidFill>
                            <a:srgbClr val="1C243A"/>
                          </a:solidFill>
                          <a:latin typeface="Calibri"/>
                        </a:rPr>
                        <a:t>17.2 / 14.9</a:t>
                      </a:r>
                    </a:p>
                  </a:txBody>
                  <a:tcPr marL="45720" marR="45720" anchor="ctr">
                    <a:solidFill>
                      <a:srgbClr val="EEF2F5"/>
                    </a:solidFill>
                  </a:tcPr>
                </a:tc>
                <a:tc>
                  <a:txBody>
                    <a:bodyPr/>
                    <a:lstStyle/>
                    <a:p>
                      <a:pPr algn="ctr"/>
                      <a:r>
                        <a:rPr sz="1100" b="1">
                          <a:solidFill>
                            <a:srgbClr val="D9483B"/>
                          </a:solidFill>
                          <a:latin typeface="Calibri"/>
                        </a:rPr>
                        <a:t>2.3 [-0.2, 4.9]</a:t>
                      </a:r>
                    </a:p>
                  </a:txBody>
                  <a:tcPr marL="45720" marR="45720" anchor="ctr">
                    <a:solidFill>
                      <a:srgbClr val="EEF2F5"/>
                    </a:solidFill>
                  </a:tcPr>
                </a:tc>
                <a:tc>
                  <a:txBody>
                    <a:bodyPr/>
                    <a:lstStyle/>
                    <a:p>
                      <a:pPr algn="ctr"/>
                      <a:r>
                        <a:rPr sz="1100" b="0">
                          <a:solidFill>
                            <a:srgbClr val="1C243A"/>
                          </a:solidFill>
                          <a:latin typeface="Calibri"/>
                        </a:rPr>
                        <a:t>132 [104, 190]</a:t>
                      </a:r>
                    </a:p>
                  </a:txBody>
                  <a:tcPr marL="45720" marR="45720" anchor="ctr">
                    <a:solidFill>
                      <a:srgbClr val="EEF2F5"/>
                    </a:solidFill>
                  </a:tcPr>
                </a:tc>
                <a:tc>
                  <a:txBody>
                    <a:bodyPr/>
                    <a:lstStyle/>
                    <a:p>
                      <a:pPr algn="ctr"/>
                      <a:r>
                        <a:rPr sz="1100" b="0">
                          <a:solidFill>
                            <a:srgbClr val="1C243A"/>
                          </a:solidFill>
                          <a:latin typeface="Calibri"/>
                        </a:rPr>
                        <a:t>112 [15, 259]</a:t>
                      </a:r>
                    </a:p>
                  </a:txBody>
                  <a:tcPr marL="45720" marR="45720" anchor="ctr">
                    <a:solidFill>
                      <a:srgbClr val="EEF2F5"/>
                    </a:solidFill>
                  </a:tcPr>
                </a:tc>
                <a:tc>
                  <a:txBody>
                    <a:bodyPr/>
                    <a:lstStyle/>
                    <a:p>
                      <a:pPr algn="ctr"/>
                      <a:r>
                        <a:rPr sz="1100" b="0">
                          <a:solidFill>
                            <a:srgbClr val="1C243A"/>
                          </a:solidFill>
                          <a:latin typeface="Calibri"/>
                        </a:rPr>
                        <a:t>3.0 [-5.8, 10.1]</a:t>
                      </a:r>
                    </a:p>
                  </a:txBody>
                  <a:tcPr marL="45720" marR="45720" anchor="ctr">
                    <a:solidFill>
                      <a:srgbClr val="EEF2F5"/>
                    </a:solidFill>
                  </a:tcPr>
                </a:tc>
                <a:tc>
                  <a:txBody>
                    <a:bodyPr/>
                    <a:lstStyle/>
                    <a:p>
                      <a:pPr algn="ctr"/>
                      <a:r>
                        <a:rPr sz="1100" b="0">
                          <a:solidFill>
                            <a:srgbClr val="1C243A"/>
                          </a:solidFill>
                          <a:latin typeface="Calibri"/>
                        </a:rPr>
                        <a:t>-6.6 [-14.9, 1.5]</a:t>
                      </a:r>
                    </a:p>
                  </a:txBody>
                  <a:tcPr marL="45720" marR="45720" anchor="ctr">
                    <a:solidFill>
                      <a:srgbClr val="EEF2F5"/>
                    </a:solidFill>
                  </a:tcPr>
                </a:tc>
              </a:tr>
              <a:tr h="484632">
                <a:tc>
                  <a:txBody>
                    <a:bodyPr/>
                    <a:lstStyle/>
                    <a:p>
                      <a:pPr algn="l"/>
                      <a:r>
                        <a:rPr sz="1100" b="1">
                          <a:solidFill>
                            <a:srgbClr val="1C243A"/>
                          </a:solidFill>
                          <a:latin typeface="Calibri"/>
                        </a:rPr>
                        <a:t>PP7, 30x</a:t>
                      </a:r>
                    </a:p>
                  </a:txBody>
                  <a:tcPr marL="45720" marR="45720" anchor="ctr">
                    <a:solidFill>
                      <a:srgbClr val="FFFFFF"/>
                    </a:solidFill>
                  </a:tcPr>
                </a:tc>
                <a:tc>
                  <a:txBody>
                    <a:bodyPr/>
                    <a:lstStyle/>
                    <a:p>
                      <a:pPr algn="ctr"/>
                      <a:r>
                        <a:rPr sz="1100" b="0">
                          <a:solidFill>
                            <a:srgbClr val="1C243A"/>
                          </a:solidFill>
                          <a:latin typeface="Calibri"/>
                        </a:rPr>
                        <a:t>145 (8)</a:t>
                      </a:r>
                    </a:p>
                  </a:txBody>
                  <a:tcPr marL="45720" marR="45720" anchor="ctr">
                    <a:solidFill>
                      <a:srgbClr val="FFFFFF"/>
                    </a:solidFill>
                  </a:tcPr>
                </a:tc>
                <a:tc>
                  <a:txBody>
                    <a:bodyPr/>
                    <a:lstStyle/>
                    <a:p>
                      <a:pPr algn="ctr"/>
                      <a:r>
                        <a:rPr sz="1100" b="0">
                          <a:solidFill>
                            <a:srgbClr val="1C243A"/>
                          </a:solidFill>
                          <a:latin typeface="Calibri"/>
                        </a:rPr>
                        <a:t>3998</a:t>
                      </a:r>
                    </a:p>
                  </a:txBody>
                  <a:tcPr marL="45720" marR="45720" anchor="ctr">
                    <a:solidFill>
                      <a:srgbClr val="FFFFFF"/>
                    </a:solidFill>
                  </a:tcPr>
                </a:tc>
                <a:tc>
                  <a:txBody>
                    <a:bodyPr/>
                    <a:lstStyle/>
                    <a:p>
                      <a:pPr algn="ctr"/>
                      <a:r>
                        <a:rPr sz="1100" b="0">
                          <a:solidFill>
                            <a:srgbClr val="1C243A"/>
                          </a:solidFill>
                          <a:latin typeface="Calibri"/>
                        </a:rPr>
                        <a:t>15.3 / 14.0</a:t>
                      </a:r>
                    </a:p>
                  </a:txBody>
                  <a:tcPr marL="45720" marR="45720" anchor="ctr">
                    <a:solidFill>
                      <a:srgbClr val="FFFFFF"/>
                    </a:solidFill>
                  </a:tcPr>
                </a:tc>
                <a:tc>
                  <a:txBody>
                    <a:bodyPr/>
                    <a:lstStyle/>
                    <a:p>
                      <a:pPr algn="ctr"/>
                      <a:r>
                        <a:rPr sz="1100" b="0">
                          <a:solidFill>
                            <a:srgbClr val="1C243A"/>
                          </a:solidFill>
                          <a:latin typeface="Calibri"/>
                        </a:rPr>
                        <a:t>1.3 [-0.6, 3.6]</a:t>
                      </a:r>
                    </a:p>
                  </a:txBody>
                  <a:tcPr marL="45720" marR="45720" anchor="ctr">
                    <a:solidFill>
                      <a:srgbClr val="FFFFFF"/>
                    </a:solidFill>
                  </a:tcPr>
                </a:tc>
                <a:tc>
                  <a:txBody>
                    <a:bodyPr/>
                    <a:lstStyle/>
                    <a:p>
                      <a:pPr algn="ctr"/>
                      <a:r>
                        <a:rPr sz="1100" b="0">
                          <a:solidFill>
                            <a:srgbClr val="1C243A"/>
                          </a:solidFill>
                          <a:latin typeface="Calibri"/>
                        </a:rPr>
                        <a:t>210 [155, 324]</a:t>
                      </a:r>
                    </a:p>
                  </a:txBody>
                  <a:tcPr marL="45720" marR="45720" anchor="ctr">
                    <a:solidFill>
                      <a:srgbClr val="FFFFFF"/>
                    </a:solidFill>
                  </a:tcPr>
                </a:tc>
                <a:tc>
                  <a:txBody>
                    <a:bodyPr/>
                    <a:lstStyle/>
                    <a:p>
                      <a:pPr algn="ctr"/>
                      <a:r>
                        <a:rPr sz="1100" b="0">
                          <a:solidFill>
                            <a:srgbClr val="1C243A"/>
                          </a:solidFill>
                          <a:latin typeface="Calibri"/>
                        </a:rPr>
                        <a:t>215 [52, 335]</a:t>
                      </a:r>
                    </a:p>
                  </a:txBody>
                  <a:tcPr marL="45720" marR="45720" anchor="ctr">
                    <a:solidFill>
                      <a:srgbClr val="FFFFFF"/>
                    </a:solidFill>
                  </a:tcPr>
                </a:tc>
                <a:tc>
                  <a:txBody>
                    <a:bodyPr/>
                    <a:lstStyle/>
                    <a:p>
                      <a:pPr algn="ctr"/>
                      <a:r>
                        <a:rPr sz="1100" b="0">
                          <a:solidFill>
                            <a:srgbClr val="1C243A"/>
                          </a:solidFill>
                          <a:latin typeface="Calibri"/>
                        </a:rPr>
                        <a:t>1.5 [-3.5, 6.4]</a:t>
                      </a:r>
                    </a:p>
                  </a:txBody>
                  <a:tcPr marL="45720" marR="45720" anchor="ctr">
                    <a:solidFill>
                      <a:srgbClr val="FFFFFF"/>
                    </a:solidFill>
                  </a:tcPr>
                </a:tc>
                <a:tc>
                  <a:txBody>
                    <a:bodyPr/>
                    <a:lstStyle/>
                    <a:p>
                      <a:pPr algn="ctr"/>
                      <a:r>
                        <a:rPr sz="1100" b="0">
                          <a:solidFill>
                            <a:srgbClr val="1C243A"/>
                          </a:solidFill>
                          <a:latin typeface="Calibri"/>
                        </a:rPr>
                        <a:t>-5.1 [-11.4, 0.8]</a:t>
                      </a:r>
                    </a:p>
                  </a:txBody>
                  <a:tcPr marL="45720" marR="45720" anchor="ctr">
                    <a:solidFill>
                      <a:srgbClr val="FFFFFF"/>
                    </a:solidFill>
                  </a:tcPr>
                </a:tc>
              </a:tr>
              <a:tr h="484632">
                <a:tc>
                  <a:txBody>
                    <a:bodyPr/>
                    <a:lstStyle/>
                    <a:p>
                      <a:pPr algn="l"/>
                      <a:r>
                        <a:rPr sz="1100" b="1">
                          <a:solidFill>
                            <a:srgbClr val="1C243A"/>
                          </a:solidFill>
                          <a:latin typeface="Calibri"/>
                        </a:rPr>
                        <a:t>PP7-FUS, 30x</a:t>
                      </a:r>
                    </a:p>
                  </a:txBody>
                  <a:tcPr marL="45720" marR="45720" anchor="ctr">
                    <a:solidFill>
                      <a:srgbClr val="EEF2F5"/>
                    </a:solidFill>
                  </a:tcPr>
                </a:tc>
                <a:tc>
                  <a:txBody>
                    <a:bodyPr/>
                    <a:lstStyle/>
                    <a:p>
                      <a:pPr algn="ctr"/>
                      <a:r>
                        <a:rPr sz="1100" b="0">
                          <a:solidFill>
                            <a:srgbClr val="1C243A"/>
                          </a:solidFill>
                          <a:latin typeface="Calibri"/>
                        </a:rPr>
                        <a:t>111 (8)</a:t>
                      </a:r>
                    </a:p>
                  </a:txBody>
                  <a:tcPr marL="45720" marR="45720" anchor="ctr">
                    <a:solidFill>
                      <a:srgbClr val="EEF2F5"/>
                    </a:solidFill>
                  </a:tcPr>
                </a:tc>
                <a:tc>
                  <a:txBody>
                    <a:bodyPr/>
                    <a:lstStyle/>
                    <a:p>
                      <a:pPr algn="ctr"/>
                      <a:r>
                        <a:rPr sz="1100" b="0">
                          <a:solidFill>
                            <a:srgbClr val="1C243A"/>
                          </a:solidFill>
                          <a:latin typeface="Calibri"/>
                        </a:rPr>
                        <a:t>3436</a:t>
                      </a:r>
                    </a:p>
                  </a:txBody>
                  <a:tcPr marL="45720" marR="45720" anchor="ctr">
                    <a:solidFill>
                      <a:srgbClr val="EEF2F5"/>
                    </a:solidFill>
                  </a:tcPr>
                </a:tc>
                <a:tc>
                  <a:txBody>
                    <a:bodyPr/>
                    <a:lstStyle/>
                    <a:p>
                      <a:pPr algn="ctr"/>
                      <a:r>
                        <a:rPr sz="1100" b="0">
                          <a:solidFill>
                            <a:srgbClr val="1C243A"/>
                          </a:solidFill>
                          <a:latin typeface="Calibri"/>
                        </a:rPr>
                        <a:t>17.2 / 16.1</a:t>
                      </a:r>
                    </a:p>
                  </a:txBody>
                  <a:tcPr marL="45720" marR="45720" anchor="ctr">
                    <a:solidFill>
                      <a:srgbClr val="EEF2F5"/>
                    </a:solidFill>
                  </a:tcPr>
                </a:tc>
                <a:tc>
                  <a:txBody>
                    <a:bodyPr/>
                    <a:lstStyle/>
                    <a:p>
                      <a:pPr algn="ctr"/>
                      <a:r>
                        <a:rPr sz="1100" b="0">
                          <a:solidFill>
                            <a:srgbClr val="1C243A"/>
                          </a:solidFill>
                          <a:latin typeface="Calibri"/>
                        </a:rPr>
                        <a:t>1.0 [-0.9, 2.7]</a:t>
                      </a:r>
                    </a:p>
                  </a:txBody>
                  <a:tcPr marL="45720" marR="45720" anchor="ctr">
                    <a:solidFill>
                      <a:srgbClr val="EEF2F5"/>
                    </a:solidFill>
                  </a:tcPr>
                </a:tc>
                <a:tc>
                  <a:txBody>
                    <a:bodyPr/>
                    <a:lstStyle/>
                    <a:p>
                      <a:pPr algn="ctr"/>
                      <a:r>
                        <a:rPr sz="1100" b="0">
                          <a:solidFill>
                            <a:srgbClr val="1C243A"/>
                          </a:solidFill>
                          <a:latin typeface="Calibri"/>
                        </a:rPr>
                        <a:t>209 [176, 251]</a:t>
                      </a:r>
                    </a:p>
                  </a:txBody>
                  <a:tcPr marL="45720" marR="45720" anchor="ctr">
                    <a:solidFill>
                      <a:srgbClr val="EEF2F5"/>
                    </a:solidFill>
                  </a:tcPr>
                </a:tc>
                <a:tc>
                  <a:txBody>
                    <a:bodyPr/>
                    <a:lstStyle/>
                    <a:p>
                      <a:pPr algn="ctr"/>
                      <a:r>
                        <a:rPr sz="1100" b="0">
                          <a:solidFill>
                            <a:srgbClr val="1C243A"/>
                          </a:solidFill>
                          <a:latin typeface="Calibri"/>
                        </a:rPr>
                        <a:t>134 [70, 206]</a:t>
                      </a:r>
                    </a:p>
                  </a:txBody>
                  <a:tcPr marL="45720" marR="45720" anchor="ctr">
                    <a:solidFill>
                      <a:srgbClr val="EEF2F5"/>
                    </a:solidFill>
                  </a:tcPr>
                </a:tc>
                <a:tc>
                  <a:txBody>
                    <a:bodyPr/>
                    <a:lstStyle/>
                    <a:p>
                      <a:pPr algn="ctr"/>
                      <a:r>
                        <a:rPr sz="1100" b="0">
                          <a:solidFill>
                            <a:srgbClr val="1C243A"/>
                          </a:solidFill>
                          <a:latin typeface="Calibri"/>
                        </a:rPr>
                        <a:t>2.2 [-5.1, 10.4]</a:t>
                      </a:r>
                    </a:p>
                  </a:txBody>
                  <a:tcPr marL="45720" marR="45720" anchor="ctr">
                    <a:solidFill>
                      <a:srgbClr val="EEF2F5"/>
                    </a:solidFill>
                  </a:tcPr>
                </a:tc>
                <a:tc>
                  <a:txBody>
                    <a:bodyPr/>
                    <a:lstStyle/>
                    <a:p>
                      <a:pPr algn="ctr"/>
                      <a:r>
                        <a:rPr sz="1100" b="0">
                          <a:solidFill>
                            <a:srgbClr val="1C243A"/>
                          </a:solidFill>
                          <a:latin typeface="Calibri"/>
                        </a:rPr>
                        <a:t>-1.3 [-4.4, 1.9]</a:t>
                      </a:r>
                    </a:p>
                  </a:txBody>
                  <a:tcPr marL="45720" marR="45720" anchor="ctr">
                    <a:solidFill>
                      <a:srgbClr val="EEF2F5"/>
                    </a:solidFill>
                  </a:tcPr>
                </a:tc>
              </a:tr>
              <a:tr h="484632">
                <a:tc>
                  <a:txBody>
                    <a:bodyPr/>
                    <a:lstStyle/>
                    <a:p>
                      <a:pPr algn="l"/>
                      <a:r>
                        <a:rPr sz="1100" b="1">
                          <a:solidFill>
                            <a:srgbClr val="1C243A"/>
                          </a:solidFill>
                          <a:latin typeface="Calibri"/>
                        </a:rPr>
                        <a:t>Qβ, 5x</a:t>
                      </a:r>
                    </a:p>
                  </a:txBody>
                  <a:tcPr marL="45720" marR="45720" anchor="ctr">
                    <a:solidFill>
                      <a:srgbClr val="FFFFFF"/>
                    </a:solidFill>
                  </a:tcPr>
                </a:tc>
                <a:tc>
                  <a:txBody>
                    <a:bodyPr/>
                    <a:lstStyle/>
                    <a:p>
                      <a:pPr algn="ctr"/>
                      <a:r>
                        <a:rPr sz="1100" b="0">
                          <a:solidFill>
                            <a:srgbClr val="1C243A"/>
                          </a:solidFill>
                          <a:latin typeface="Calibri"/>
                        </a:rPr>
                        <a:t>191 (10)</a:t>
                      </a:r>
                    </a:p>
                  </a:txBody>
                  <a:tcPr marL="45720" marR="45720" anchor="ctr">
                    <a:solidFill>
                      <a:srgbClr val="FFFFFF"/>
                    </a:solidFill>
                  </a:tcPr>
                </a:tc>
                <a:tc>
                  <a:txBody>
                    <a:bodyPr/>
                    <a:lstStyle/>
                    <a:p>
                      <a:pPr algn="ctr"/>
                      <a:r>
                        <a:rPr sz="1100" b="0">
                          <a:solidFill>
                            <a:srgbClr val="1C243A"/>
                          </a:solidFill>
                          <a:latin typeface="Calibri"/>
                        </a:rPr>
                        <a:t>13197</a:t>
                      </a:r>
                    </a:p>
                  </a:txBody>
                  <a:tcPr marL="45720" marR="45720" anchor="ctr">
                    <a:solidFill>
                      <a:srgbClr val="FFFFFF"/>
                    </a:solidFill>
                  </a:tcPr>
                </a:tc>
                <a:tc>
                  <a:txBody>
                    <a:bodyPr/>
                    <a:lstStyle/>
                    <a:p>
                      <a:pPr algn="ctr"/>
                      <a:r>
                        <a:rPr sz="1100" b="0">
                          <a:solidFill>
                            <a:srgbClr val="1C243A"/>
                          </a:solidFill>
                          <a:latin typeface="Calibri"/>
                        </a:rPr>
                        <a:t>9.2 / 7.2</a:t>
                      </a:r>
                    </a:p>
                  </a:txBody>
                  <a:tcPr marL="45720" marR="45720" anchor="ctr">
                    <a:solidFill>
                      <a:srgbClr val="FFFFFF"/>
                    </a:solidFill>
                  </a:tcPr>
                </a:tc>
                <a:tc>
                  <a:txBody>
                    <a:bodyPr/>
                    <a:lstStyle/>
                    <a:p>
                      <a:pPr algn="ctr"/>
                      <a:r>
                        <a:rPr sz="1100" b="0">
                          <a:solidFill>
                            <a:srgbClr val="1C243A"/>
                          </a:solidFill>
                          <a:latin typeface="Calibri"/>
                        </a:rPr>
                        <a:t>2.1 [1.1, 3.2]</a:t>
                      </a:r>
                    </a:p>
                  </a:txBody>
                  <a:tcPr marL="45720" marR="45720" anchor="ctr">
                    <a:solidFill>
                      <a:srgbClr val="FFFFFF"/>
                    </a:solidFill>
                  </a:tcPr>
                </a:tc>
                <a:tc>
                  <a:txBody>
                    <a:bodyPr/>
                    <a:lstStyle/>
                    <a:p>
                      <a:pPr algn="ctr"/>
                      <a:r>
                        <a:rPr sz="1100" b="0">
                          <a:solidFill>
                            <a:srgbClr val="1C243A"/>
                          </a:solidFill>
                          <a:latin typeface="Calibri"/>
                        </a:rPr>
                        <a:t>386 [355, 429]</a:t>
                      </a:r>
                    </a:p>
                  </a:txBody>
                  <a:tcPr marL="45720" marR="45720" anchor="ctr">
                    <a:solidFill>
                      <a:srgbClr val="FFFFFF"/>
                    </a:solidFill>
                  </a:tcPr>
                </a:tc>
                <a:tc>
                  <a:txBody>
                    <a:bodyPr/>
                    <a:lstStyle/>
                    <a:p>
                      <a:pPr algn="ctr"/>
                      <a:r>
                        <a:rPr sz="1100" b="0">
                          <a:solidFill>
                            <a:srgbClr val="1C243A"/>
                          </a:solidFill>
                          <a:latin typeface="Calibri"/>
                        </a:rPr>
                        <a:t>217 [139, 380]</a:t>
                      </a:r>
                    </a:p>
                  </a:txBody>
                  <a:tcPr marL="45720" marR="45720" anchor="ctr">
                    <a:solidFill>
                      <a:srgbClr val="FFFFFF"/>
                    </a:solidFill>
                  </a:tcPr>
                </a:tc>
                <a:tc>
                  <a:txBody>
                    <a:bodyPr/>
                    <a:lstStyle/>
                    <a:p>
                      <a:pPr algn="ctr"/>
                      <a:r>
                        <a:rPr sz="1100" b="1">
                          <a:solidFill>
                            <a:srgbClr val="D9483B"/>
                          </a:solidFill>
                          <a:latin typeface="Calibri"/>
                        </a:rPr>
                        <a:t>9.3 [5.2, 13.4]</a:t>
                      </a:r>
                    </a:p>
                  </a:txBody>
                  <a:tcPr marL="45720" marR="45720" anchor="ctr">
                    <a:solidFill>
                      <a:srgbClr val="FFFFFF"/>
                    </a:solidFill>
                  </a:tcPr>
                </a:tc>
                <a:tc>
                  <a:txBody>
                    <a:bodyPr/>
                    <a:lstStyle/>
                    <a:p>
                      <a:pPr algn="ctr"/>
                      <a:r>
                        <a:rPr sz="1100" b="0">
                          <a:solidFill>
                            <a:srgbClr val="1C243A"/>
                          </a:solidFill>
                          <a:latin typeface="Calibri"/>
                        </a:rPr>
                        <a:t>3.5 [-0.1, 7.6]</a:t>
                      </a:r>
                    </a:p>
                  </a:txBody>
                  <a:tcPr marL="45720" marR="45720" anchor="ctr">
                    <a:solidFill>
                      <a:srgbClr val="FFFFFF"/>
                    </a:solidFill>
                  </a:tcPr>
                </a:tc>
              </a:tr>
              <a:tr h="484632">
                <a:tc>
                  <a:txBody>
                    <a:bodyPr/>
                    <a:lstStyle/>
                    <a:p>
                      <a:pPr algn="l"/>
                      <a:r>
                        <a:rPr sz="1100" b="1">
                          <a:solidFill>
                            <a:srgbClr val="1C243A"/>
                          </a:solidFill>
                          <a:latin typeface="Calibri"/>
                        </a:rPr>
                        <a:t>Qβ, 10x</a:t>
                      </a:r>
                    </a:p>
                  </a:txBody>
                  <a:tcPr marL="45720" marR="45720" anchor="ctr">
                    <a:solidFill>
                      <a:srgbClr val="EEF2F5"/>
                    </a:solidFill>
                  </a:tcPr>
                </a:tc>
                <a:tc>
                  <a:txBody>
                    <a:bodyPr/>
                    <a:lstStyle/>
                    <a:p>
                      <a:pPr algn="ctr"/>
                      <a:r>
                        <a:rPr sz="1100" b="0">
                          <a:solidFill>
                            <a:srgbClr val="1C243A"/>
                          </a:solidFill>
                          <a:latin typeface="Calibri"/>
                        </a:rPr>
                        <a:t>279 (9)</a:t>
                      </a:r>
                    </a:p>
                  </a:txBody>
                  <a:tcPr marL="45720" marR="45720" anchor="ctr">
                    <a:solidFill>
                      <a:srgbClr val="EEF2F5"/>
                    </a:solidFill>
                  </a:tcPr>
                </a:tc>
                <a:tc>
                  <a:txBody>
                    <a:bodyPr/>
                    <a:lstStyle/>
                    <a:p>
                      <a:pPr algn="ctr"/>
                      <a:r>
                        <a:rPr sz="1100" b="0">
                          <a:solidFill>
                            <a:srgbClr val="1C243A"/>
                          </a:solidFill>
                          <a:latin typeface="Calibri"/>
                        </a:rPr>
                        <a:t>17534</a:t>
                      </a:r>
                    </a:p>
                  </a:txBody>
                  <a:tcPr marL="45720" marR="45720" anchor="ctr">
                    <a:solidFill>
                      <a:srgbClr val="EEF2F5"/>
                    </a:solidFill>
                  </a:tcPr>
                </a:tc>
                <a:tc>
                  <a:txBody>
                    <a:bodyPr/>
                    <a:lstStyle/>
                    <a:p>
                      <a:pPr algn="ctr"/>
                      <a:r>
                        <a:rPr sz="1100" b="0">
                          <a:solidFill>
                            <a:srgbClr val="1C243A"/>
                          </a:solidFill>
                          <a:latin typeface="Calibri"/>
                        </a:rPr>
                        <a:t>9.1 / 6.6</a:t>
                      </a:r>
                    </a:p>
                  </a:txBody>
                  <a:tcPr marL="45720" marR="45720" anchor="ctr">
                    <a:solidFill>
                      <a:srgbClr val="EEF2F5"/>
                    </a:solidFill>
                  </a:tcPr>
                </a:tc>
                <a:tc>
                  <a:txBody>
                    <a:bodyPr/>
                    <a:lstStyle/>
                    <a:p>
                      <a:pPr algn="ctr"/>
                      <a:r>
                        <a:rPr sz="1100" b="0">
                          <a:solidFill>
                            <a:srgbClr val="1C243A"/>
                          </a:solidFill>
                          <a:latin typeface="Calibri"/>
                        </a:rPr>
                        <a:t>2.6 [1.6, 3.8]</a:t>
                      </a:r>
                    </a:p>
                  </a:txBody>
                  <a:tcPr marL="45720" marR="45720" anchor="ctr">
                    <a:solidFill>
                      <a:srgbClr val="EEF2F5"/>
                    </a:solidFill>
                  </a:tcPr>
                </a:tc>
                <a:tc>
                  <a:txBody>
                    <a:bodyPr/>
                    <a:lstStyle/>
                    <a:p>
                      <a:pPr algn="ctr"/>
                      <a:r>
                        <a:rPr sz="1100" b="0">
                          <a:solidFill>
                            <a:srgbClr val="1C243A"/>
                          </a:solidFill>
                          <a:latin typeface="Calibri"/>
                        </a:rPr>
                        <a:t>535 [469, 607]</a:t>
                      </a:r>
                    </a:p>
                  </a:txBody>
                  <a:tcPr marL="45720" marR="45720" anchor="ctr">
                    <a:solidFill>
                      <a:srgbClr val="EEF2F5"/>
                    </a:solidFill>
                  </a:tcPr>
                </a:tc>
                <a:tc>
                  <a:txBody>
                    <a:bodyPr/>
                    <a:lstStyle/>
                    <a:p>
                      <a:pPr algn="ctr"/>
                      <a:r>
                        <a:rPr sz="1100" b="0">
                          <a:solidFill>
                            <a:srgbClr val="1C243A"/>
                          </a:solidFill>
                          <a:latin typeface="Calibri"/>
                        </a:rPr>
                        <a:t>174 [51, 548]</a:t>
                      </a:r>
                    </a:p>
                  </a:txBody>
                  <a:tcPr marL="45720" marR="45720" anchor="ctr">
                    <a:solidFill>
                      <a:srgbClr val="EEF2F5"/>
                    </a:solidFill>
                  </a:tcPr>
                </a:tc>
                <a:tc>
                  <a:txBody>
                    <a:bodyPr/>
                    <a:lstStyle/>
                    <a:p>
                      <a:pPr algn="ctr"/>
                      <a:r>
                        <a:rPr sz="1100" b="1">
                          <a:solidFill>
                            <a:srgbClr val="D9483B"/>
                          </a:solidFill>
                          <a:latin typeface="Calibri"/>
                        </a:rPr>
                        <a:t>9.7 [6.1, 13.3]</a:t>
                      </a:r>
                    </a:p>
                  </a:txBody>
                  <a:tcPr marL="45720" marR="45720" anchor="ctr">
                    <a:solidFill>
                      <a:srgbClr val="EEF2F5"/>
                    </a:solidFill>
                  </a:tcPr>
                </a:tc>
                <a:tc>
                  <a:txBody>
                    <a:bodyPr/>
                    <a:lstStyle/>
                    <a:p>
                      <a:pPr algn="ctr"/>
                      <a:r>
                        <a:rPr sz="1100" b="0">
                          <a:solidFill>
                            <a:srgbClr val="1C243A"/>
                          </a:solidFill>
                          <a:latin typeface="Calibri"/>
                        </a:rPr>
                        <a:t>8.9 [5.1, 13.6]</a:t>
                      </a:r>
                    </a:p>
                  </a:txBody>
                  <a:tcPr marL="45720" marR="45720" anchor="ctr">
                    <a:solidFill>
                      <a:srgbClr val="EEF2F5"/>
                    </a:solidFill>
                  </a:tcPr>
                </a:tc>
              </a:tr>
              <a:tr h="484632">
                <a:tc>
                  <a:txBody>
                    <a:bodyPr/>
                    <a:lstStyle/>
                    <a:p>
                      <a:pPr algn="l"/>
                      <a:r>
                        <a:rPr sz="1100" b="1">
                          <a:solidFill>
                            <a:srgbClr val="1C243A"/>
                          </a:solidFill>
                          <a:latin typeface="Calibri"/>
                        </a:rPr>
                        <a:t>In vitro 1:1</a:t>
                      </a:r>
                    </a:p>
                  </a:txBody>
                  <a:tcPr marL="45720" marR="45720" anchor="ctr">
                    <a:solidFill>
                      <a:srgbClr val="FFFFFF"/>
                    </a:solidFill>
                  </a:tcPr>
                </a:tc>
                <a:tc>
                  <a:txBody>
                    <a:bodyPr/>
                    <a:lstStyle/>
                    <a:p>
                      <a:pPr algn="ctr"/>
                      <a:r>
                        <a:rPr sz="1100" b="0">
                          <a:solidFill>
                            <a:srgbClr val="1C243A"/>
                          </a:solidFill>
                          <a:latin typeface="Calibri"/>
                        </a:rPr>
                        <a:t>45</a:t>
                      </a:r>
                    </a:p>
                  </a:txBody>
                  <a:tcPr marL="45720" marR="45720" anchor="ctr">
                    <a:solidFill>
                      <a:srgbClr val="FFFFFF"/>
                    </a:solidFill>
                  </a:tcPr>
                </a:tc>
                <a:tc>
                  <a:txBody>
                    <a:bodyPr/>
                    <a:lstStyle/>
                    <a:p>
                      <a:pPr algn="ctr"/>
                      <a:r>
                        <a:rPr sz="1100" b="0">
                          <a:solidFill>
                            <a:srgbClr val="1C243A"/>
                          </a:solidFill>
                          <a:latin typeface="Calibri"/>
                        </a:rPr>
                        <a:t>914</a:t>
                      </a:r>
                    </a:p>
                  </a:txBody>
                  <a:tcPr marL="45720" marR="45720" anchor="ctr">
                    <a:solidFill>
                      <a:srgbClr val="FFFFFF"/>
                    </a:solidFill>
                  </a:tcPr>
                </a:tc>
                <a:tc>
                  <a:txBody>
                    <a:bodyPr/>
                    <a:lstStyle/>
                    <a:p>
                      <a:pPr algn="ctr"/>
                      <a:r>
                        <a:rPr sz="1100" b="0">
                          <a:solidFill>
                            <a:srgbClr val="1C243A"/>
                          </a:solidFill>
                          <a:latin typeface="Calibri"/>
                        </a:rPr>
                        <a:t>7.9 / 10.4</a:t>
                      </a:r>
                    </a:p>
                  </a:txBody>
                  <a:tcPr marL="45720" marR="45720" anchor="ctr">
                    <a:solidFill>
                      <a:srgbClr val="FFFFFF"/>
                    </a:solidFill>
                  </a:tcPr>
                </a:tc>
                <a:tc>
                  <a:txBody>
                    <a:bodyPr/>
                    <a:lstStyle/>
                    <a:p>
                      <a:pPr algn="ctr"/>
                      <a:r>
                        <a:rPr sz="1100" b="0">
                          <a:solidFill>
                            <a:srgbClr val="1C243A"/>
                          </a:solidFill>
                          <a:latin typeface="Calibri"/>
                        </a:rPr>
                        <a:t>-2.5 [-6.5, 1.2]</a:t>
                      </a:r>
                    </a:p>
                  </a:txBody>
                  <a:tcPr marL="45720" marR="45720" anchor="ctr">
                    <a:solidFill>
                      <a:srgbClr val="FFFFFF"/>
                    </a:solidFill>
                  </a:tcPr>
                </a:tc>
                <a:tc>
                  <a:txBody>
                    <a:bodyPr/>
                    <a:lstStyle/>
                    <a:p>
                      <a:pPr algn="ctr"/>
                      <a:r>
                        <a:rPr sz="1100" b="0">
                          <a:solidFill>
                            <a:srgbClr val="1C243A"/>
                          </a:solidFill>
                          <a:latin typeface="Calibri"/>
                        </a:rPr>
                        <a:t>36 [26, 72]</a:t>
                      </a:r>
                    </a:p>
                  </a:txBody>
                  <a:tcPr marL="45720" marR="45720" anchor="ctr">
                    <a:solidFill>
                      <a:srgbClr val="FFFFFF"/>
                    </a:solidFill>
                  </a:tcPr>
                </a:tc>
                <a:tc>
                  <a:txBody>
                    <a:bodyPr/>
                    <a:lstStyle/>
                    <a:p>
                      <a:pPr algn="ctr"/>
                      <a:r>
                        <a:rPr sz="1100" b="0">
                          <a:solidFill>
                            <a:srgbClr val="1C243A"/>
                          </a:solidFill>
                          <a:latin typeface="Calibri"/>
                        </a:rPr>
                        <a:t>119 [42, 297]</a:t>
                      </a:r>
                    </a:p>
                  </a:txBody>
                  <a:tcPr marL="45720" marR="45720" anchor="ctr">
                    <a:solidFill>
                      <a:srgbClr val="FFFFFF"/>
                    </a:solidFill>
                  </a:tcPr>
                </a:tc>
                <a:tc>
                  <a:txBody>
                    <a:bodyPr/>
                    <a:lstStyle/>
                    <a:p>
                      <a:pPr algn="ctr"/>
                      <a:r>
                        <a:rPr sz="1100" b="0">
                          <a:solidFill>
                            <a:srgbClr val="1C243A"/>
                          </a:solidFill>
                          <a:latin typeface="Calibri"/>
                        </a:rPr>
                        <a:t>8.8 [-3.4, 21.8]</a:t>
                      </a:r>
                    </a:p>
                  </a:txBody>
                  <a:tcPr marL="45720" marR="45720" anchor="ctr">
                    <a:solidFill>
                      <a:srgbClr val="FFFFFF"/>
                    </a:solidFill>
                  </a:tcPr>
                </a:tc>
                <a:tc>
                  <a:txBody>
                    <a:bodyPr/>
                    <a:lstStyle/>
                    <a:p>
                      <a:pPr algn="ctr"/>
                      <a:r>
                        <a:rPr sz="1100" b="1">
                          <a:solidFill>
                            <a:srgbClr val="D9483B"/>
                          </a:solidFill>
                          <a:latin typeface="Calibri"/>
                        </a:rPr>
                        <a:t>-21.1 [-34.9, -8.1]</a:t>
                      </a:r>
                    </a:p>
                  </a:txBody>
                  <a:tcPr marL="45720" marR="45720" anchor="ctr">
                    <a:solidFill>
                      <a:srgbClr val="FFFFFF"/>
                    </a:solidFill>
                  </a:tcPr>
                </a:tc>
              </a:tr>
              <a:tr h="484632">
                <a:tc>
                  <a:txBody>
                    <a:bodyPr/>
                    <a:lstStyle/>
                    <a:p>
                      <a:pPr algn="l"/>
                      <a:r>
                        <a:rPr sz="1100" b="1">
                          <a:solidFill>
                            <a:srgbClr val="1C243A"/>
                          </a:solidFill>
                          <a:latin typeface="Calibri"/>
                        </a:rPr>
                        <a:t>In vitro 10:1</a:t>
                      </a:r>
                    </a:p>
                  </a:txBody>
                  <a:tcPr marL="45720" marR="45720" anchor="ctr">
                    <a:solidFill>
                      <a:srgbClr val="EEF2F5"/>
                    </a:solidFill>
                  </a:tcPr>
                </a:tc>
                <a:tc>
                  <a:txBody>
                    <a:bodyPr/>
                    <a:lstStyle/>
                    <a:p>
                      <a:pPr algn="ctr"/>
                      <a:r>
                        <a:rPr sz="1100" b="0">
                          <a:solidFill>
                            <a:srgbClr val="1C243A"/>
                          </a:solidFill>
                          <a:latin typeface="Calibri"/>
                        </a:rPr>
                        <a:t>37</a:t>
                      </a:r>
                    </a:p>
                  </a:txBody>
                  <a:tcPr marL="45720" marR="45720" anchor="ctr">
                    <a:solidFill>
                      <a:srgbClr val="EEF2F5"/>
                    </a:solidFill>
                  </a:tcPr>
                </a:tc>
                <a:tc>
                  <a:txBody>
                    <a:bodyPr/>
                    <a:lstStyle/>
                    <a:p>
                      <a:pPr algn="ctr"/>
                      <a:r>
                        <a:rPr sz="1100" b="0">
                          <a:solidFill>
                            <a:srgbClr val="1C243A"/>
                          </a:solidFill>
                          <a:latin typeface="Calibri"/>
                        </a:rPr>
                        <a:t>1715</a:t>
                      </a:r>
                    </a:p>
                  </a:txBody>
                  <a:tcPr marL="45720" marR="45720" anchor="ctr">
                    <a:solidFill>
                      <a:srgbClr val="EEF2F5"/>
                    </a:solidFill>
                  </a:tcPr>
                </a:tc>
                <a:tc>
                  <a:txBody>
                    <a:bodyPr/>
                    <a:lstStyle/>
                    <a:p>
                      <a:pPr algn="ctr"/>
                      <a:r>
                        <a:rPr sz="1100" b="0">
                          <a:solidFill>
                            <a:srgbClr val="1C243A"/>
                          </a:solidFill>
                          <a:latin typeface="Calibri"/>
                        </a:rPr>
                        <a:t>12.2 / 8.8</a:t>
                      </a:r>
                    </a:p>
                  </a:txBody>
                  <a:tcPr marL="45720" marR="45720" anchor="ctr">
                    <a:solidFill>
                      <a:srgbClr val="EEF2F5"/>
                    </a:solidFill>
                  </a:tcPr>
                </a:tc>
                <a:tc>
                  <a:txBody>
                    <a:bodyPr/>
                    <a:lstStyle/>
                    <a:p>
                      <a:pPr algn="ctr"/>
                      <a:r>
                        <a:rPr sz="1100" b="0">
                          <a:solidFill>
                            <a:srgbClr val="1C243A"/>
                          </a:solidFill>
                          <a:latin typeface="Calibri"/>
                        </a:rPr>
                        <a:t>3.4 [0.7, 7.6]</a:t>
                      </a:r>
                    </a:p>
                  </a:txBody>
                  <a:tcPr marL="45720" marR="45720" anchor="ctr">
                    <a:solidFill>
                      <a:srgbClr val="EEF2F5"/>
                    </a:solidFill>
                  </a:tcPr>
                </a:tc>
                <a:tc>
                  <a:txBody>
                    <a:bodyPr/>
                    <a:lstStyle/>
                    <a:p>
                      <a:pPr algn="ctr"/>
                      <a:r>
                        <a:rPr sz="1100" b="0">
                          <a:solidFill>
                            <a:srgbClr val="1C243A"/>
                          </a:solidFill>
                          <a:latin typeface="Calibri"/>
                        </a:rPr>
                        <a:t>86 [67, 102]</a:t>
                      </a:r>
                    </a:p>
                  </a:txBody>
                  <a:tcPr marL="45720" marR="45720" anchor="ctr">
                    <a:solidFill>
                      <a:srgbClr val="EEF2F5"/>
                    </a:solidFill>
                  </a:tcPr>
                </a:tc>
                <a:tc>
                  <a:txBody>
                    <a:bodyPr/>
                    <a:lstStyle/>
                    <a:p>
                      <a:pPr algn="ctr"/>
                      <a:r>
                        <a:rPr sz="1100" b="0">
                          <a:solidFill>
                            <a:srgbClr val="1C243A"/>
                          </a:solidFill>
                          <a:latin typeface="Calibri"/>
                        </a:rPr>
                        <a:t>220 [130, 316]</a:t>
                      </a:r>
                    </a:p>
                  </a:txBody>
                  <a:tcPr marL="45720" marR="45720" anchor="ctr">
                    <a:solidFill>
                      <a:srgbClr val="EEF2F5"/>
                    </a:solidFill>
                  </a:tcPr>
                </a:tc>
                <a:tc>
                  <a:txBody>
                    <a:bodyPr/>
                    <a:lstStyle/>
                    <a:p>
                      <a:pPr algn="ctr"/>
                      <a:r>
                        <a:rPr sz="1100" b="1">
                          <a:solidFill>
                            <a:srgbClr val="D9483B"/>
                          </a:solidFill>
                          <a:latin typeface="Calibri"/>
                        </a:rPr>
                        <a:t>50.1 [26.7, 76.1]</a:t>
                      </a:r>
                    </a:p>
                  </a:txBody>
                  <a:tcPr marL="45720" marR="45720" anchor="ctr">
                    <a:solidFill>
                      <a:srgbClr val="EEF2F5"/>
                    </a:solidFill>
                  </a:tcPr>
                </a:tc>
                <a:tc>
                  <a:txBody>
                    <a:bodyPr/>
                    <a:lstStyle/>
                    <a:p>
                      <a:pPr algn="ctr"/>
                      <a:r>
                        <a:rPr sz="1100" b="1">
                          <a:solidFill>
                            <a:srgbClr val="D9483B"/>
                          </a:solidFill>
                          <a:latin typeface="Calibri"/>
                        </a:rPr>
                        <a:t>-39.7 [-63.0, -20.5]</a:t>
                      </a:r>
                    </a:p>
                  </a:txBody>
                  <a:tcPr marL="45720" marR="45720" anchor="ctr">
                    <a:solidFill>
                      <a:srgbClr val="EEF2F5"/>
                    </a:solidFill>
                  </a:tcPr>
                </a:tc>
              </a:tr>
              <a:tr h="484632">
                <a:tc>
                  <a:txBody>
                    <a:bodyPr/>
                    <a:lstStyle/>
                    <a:p>
                      <a:pPr algn="l"/>
                      <a:r>
                        <a:rPr sz="1100" b="1">
                          <a:solidFill>
                            <a:srgbClr val="1C243A"/>
                          </a:solidFill>
                          <a:latin typeface="Calibri"/>
                        </a:rPr>
                        <a:t>In vitro 100:1</a:t>
                      </a:r>
                    </a:p>
                  </a:txBody>
                  <a:tcPr marL="45720" marR="45720" anchor="ctr">
                    <a:solidFill>
                      <a:srgbClr val="FFFFFF"/>
                    </a:solidFill>
                  </a:tcPr>
                </a:tc>
                <a:tc>
                  <a:txBody>
                    <a:bodyPr/>
                    <a:lstStyle/>
                    <a:p>
                      <a:pPr algn="ctr"/>
                      <a:r>
                        <a:rPr sz="1100" b="0">
                          <a:solidFill>
                            <a:srgbClr val="1C243A"/>
                          </a:solidFill>
                          <a:latin typeface="Calibri"/>
                        </a:rPr>
                        <a:t>31</a:t>
                      </a:r>
                    </a:p>
                  </a:txBody>
                  <a:tcPr marL="45720" marR="45720" anchor="ctr">
                    <a:solidFill>
                      <a:srgbClr val="FFFFFF"/>
                    </a:solidFill>
                  </a:tcPr>
                </a:tc>
                <a:tc>
                  <a:txBody>
                    <a:bodyPr/>
                    <a:lstStyle/>
                    <a:p>
                      <a:pPr algn="ctr"/>
                      <a:r>
                        <a:rPr sz="1100" b="0">
                          <a:solidFill>
                            <a:srgbClr val="1C243A"/>
                          </a:solidFill>
                          <a:latin typeface="Calibri"/>
                        </a:rPr>
                        <a:t>1726</a:t>
                      </a:r>
                    </a:p>
                  </a:txBody>
                  <a:tcPr marL="45720" marR="45720" anchor="ctr">
                    <a:solidFill>
                      <a:srgbClr val="FFFFFF"/>
                    </a:solidFill>
                  </a:tcPr>
                </a:tc>
                <a:tc>
                  <a:txBody>
                    <a:bodyPr/>
                    <a:lstStyle/>
                    <a:p>
                      <a:pPr algn="ctr"/>
                      <a:r>
                        <a:rPr sz="1100" b="0">
                          <a:solidFill>
                            <a:srgbClr val="1C243A"/>
                          </a:solidFill>
                          <a:latin typeface="Calibri"/>
                        </a:rPr>
                        <a:t>15.2 / 10.0</a:t>
                      </a:r>
                    </a:p>
                  </a:txBody>
                  <a:tcPr marL="45720" marR="45720" anchor="ctr">
                    <a:solidFill>
                      <a:srgbClr val="FFFFFF"/>
                    </a:solidFill>
                  </a:tcPr>
                </a:tc>
                <a:tc>
                  <a:txBody>
                    <a:bodyPr/>
                    <a:lstStyle/>
                    <a:p>
                      <a:pPr algn="ctr"/>
                      <a:r>
                        <a:rPr sz="1100" b="0">
                          <a:solidFill>
                            <a:srgbClr val="1C243A"/>
                          </a:solidFill>
                          <a:latin typeface="Calibri"/>
                        </a:rPr>
                        <a:t>5.1 [-0.0, 7.6]</a:t>
                      </a:r>
                    </a:p>
                  </a:txBody>
                  <a:tcPr marL="45720" marR="45720" anchor="ctr">
                    <a:solidFill>
                      <a:srgbClr val="FFFFFF"/>
                    </a:solidFill>
                  </a:tcPr>
                </a:tc>
                <a:tc>
                  <a:txBody>
                    <a:bodyPr/>
                    <a:lstStyle/>
                    <a:p>
                      <a:pPr algn="ctr"/>
                      <a:r>
                        <a:rPr sz="1100" b="0">
                          <a:solidFill>
                            <a:srgbClr val="1C243A"/>
                          </a:solidFill>
                          <a:latin typeface="Calibri"/>
                        </a:rPr>
                        <a:t>118 [82, 200]</a:t>
                      </a:r>
                    </a:p>
                  </a:txBody>
                  <a:tcPr marL="45720" marR="45720" anchor="ctr">
                    <a:solidFill>
                      <a:srgbClr val="FFFFFF"/>
                    </a:solidFill>
                  </a:tcPr>
                </a:tc>
                <a:tc>
                  <a:txBody>
                    <a:bodyPr/>
                    <a:lstStyle/>
                    <a:p>
                      <a:pPr algn="ctr"/>
                      <a:r>
                        <a:rPr sz="1100" b="0">
                          <a:solidFill>
                            <a:srgbClr val="1C243A"/>
                          </a:solidFill>
                          <a:latin typeface="Calibri"/>
                        </a:rPr>
                        <a:t>434 [188, 754]</a:t>
                      </a:r>
                    </a:p>
                  </a:txBody>
                  <a:tcPr marL="45720" marR="45720" anchor="ctr">
                    <a:solidFill>
                      <a:srgbClr val="FFFFFF"/>
                    </a:solidFill>
                  </a:tcPr>
                </a:tc>
                <a:tc>
                  <a:txBody>
                    <a:bodyPr/>
                    <a:lstStyle/>
                    <a:p>
                      <a:pPr algn="ctr"/>
                      <a:r>
                        <a:rPr sz="1100" b="1">
                          <a:solidFill>
                            <a:srgbClr val="D9483B"/>
                          </a:solidFill>
                          <a:latin typeface="Calibri"/>
                        </a:rPr>
                        <a:t>46.2 [18.1, 78.3]</a:t>
                      </a:r>
                    </a:p>
                  </a:txBody>
                  <a:tcPr marL="45720" marR="45720" anchor="ctr">
                    <a:solidFill>
                      <a:srgbClr val="FFFFFF"/>
                    </a:solidFill>
                  </a:tcPr>
                </a:tc>
                <a:tc>
                  <a:txBody>
                    <a:bodyPr/>
                    <a:lstStyle/>
                    <a:p>
                      <a:pPr algn="ctr"/>
                      <a:r>
                        <a:rPr sz="1100" b="1">
                          <a:solidFill>
                            <a:srgbClr val="D9483B"/>
                          </a:solidFill>
                          <a:latin typeface="Calibri"/>
                        </a:rPr>
                        <a:t>-70.8 [-88.6, -55.0]</a:t>
                      </a:r>
                    </a:p>
                  </a:txBody>
                  <a:tcPr marL="45720" marR="45720" anchor="ctr">
                    <a:solidFill>
                      <a:srgbClr val="FFFFFF"/>
                    </a:solidFill>
                  </a:tcPr>
                </a:tc>
              </a:tr>
            </a:tbl>
          </a:graphicData>
        </a:graphic>
      </p:graphicFrame>
      <p:sp>
        <p:nvSpPr>
          <p:cNvPr id="5" name="TextBox 4"/>
          <p:cNvSpPr txBox="1"/>
          <p:nvPr/>
        </p:nvSpPr>
        <p:spPr>
          <a:xfrm>
            <a:off x="548640" y="6263640"/>
            <a:ext cx="11064240" cy="365760"/>
          </a:xfrm>
          <a:prstGeom prst="rect">
            <a:avLst/>
          </a:prstGeom>
          <a:noFill/>
        </p:spPr>
        <p:txBody>
          <a:bodyPr wrap="square" anchor="t" lIns="0" rIns="0" tIns="0" bIns="0">
            <a:spAutoFit/>
          </a:bodyPr>
          <a:lstStyle/>
          <a:p>
            <a:pPr algn="l">
              <a:spcAft>
                <a:spcPts val="600"/>
              </a:spcAft>
            </a:pPr>
            <a:r>
              <a:rPr sz="1100" b="0" i="0">
                <a:solidFill>
                  <a:srgbClr val="5F6778"/>
                </a:solidFill>
                <a:latin typeface="Calibri"/>
              </a:rPr>
              <a:t>Red: CI excludes 0, or (4x FUS) the beyond-noise gap tested on its own. Median and λ·k0 in spot-mean units; burst size and turnover as % of the granule. 95% CI.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4x FUS: half the gap is brightness, half beyond noise</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11</a:t>
            </a:r>
          </a:p>
        </p:txBody>
      </p:sp>
      <p:pic>
        <p:nvPicPr>
          <p:cNvPr id="4" name="Picture 3" descr="fus4x.png"/>
          <p:cNvPicPr>
            <a:picLocks noChangeAspect="1"/>
          </p:cNvPicPr>
          <p:nvPr/>
        </p:nvPicPr>
        <p:blipFill>
          <a:blip r:embed="rId3"/>
          <a:stretch>
            <a:fillRect/>
          </a:stretch>
        </p:blipFill>
        <p:spPr>
          <a:xfrm>
            <a:off x="548640" y="1280160"/>
            <a:ext cx="11064240" cy="2656313"/>
          </a:xfrm>
          <a:prstGeom prst="rect">
            <a:avLst/>
          </a:prstGeom>
        </p:spPr>
      </p:pic>
      <p:sp>
        <p:nvSpPr>
          <p:cNvPr id="5" name="Rounded Rectangle 4"/>
          <p:cNvSpPr/>
          <p:nvPr/>
        </p:nvSpPr>
        <p:spPr>
          <a:xfrm>
            <a:off x="548640" y="4480560"/>
            <a:ext cx="260604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17720"/>
            <a:ext cx="2148840" cy="685800"/>
          </a:xfrm>
          <a:prstGeom prst="rect">
            <a:avLst/>
          </a:prstGeom>
          <a:noFill/>
        </p:spPr>
        <p:txBody>
          <a:bodyPr wrap="square" anchor="t" lIns="0" rIns="0" tIns="0" bIns="0">
            <a:spAutoFit/>
          </a:bodyPr>
          <a:lstStyle/>
          <a:p>
            <a:pPr algn="l">
              <a:spcAft>
                <a:spcPts val="600"/>
              </a:spcAft>
            </a:pPr>
            <a:r>
              <a:rPr sz="3400" b="1" i="0">
                <a:solidFill>
                  <a:srgbClr val="5F6778"/>
                </a:solidFill>
                <a:latin typeface="Cambria"/>
              </a:rPr>
              <a:t>2x</a:t>
            </a:r>
          </a:p>
        </p:txBody>
      </p:sp>
      <p:sp>
        <p:nvSpPr>
          <p:cNvPr id="7" name="TextBox 6"/>
          <p:cNvSpPr txBox="1"/>
          <p:nvPr/>
        </p:nvSpPr>
        <p:spPr>
          <a:xfrm>
            <a:off x="777240" y="5285232"/>
            <a:ext cx="214884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dimmer FUS granules (p = 0.002)</a:t>
            </a:r>
          </a:p>
        </p:txBody>
      </p:sp>
      <p:sp>
        <p:nvSpPr>
          <p:cNvPr id="8" name="Rounded Rectangle 7"/>
          <p:cNvSpPr/>
          <p:nvPr/>
        </p:nvSpPr>
        <p:spPr>
          <a:xfrm>
            <a:off x="3337560" y="4480560"/>
            <a:ext cx="260604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66160" y="4617720"/>
            <a:ext cx="2148840" cy="685800"/>
          </a:xfrm>
          <a:prstGeom prst="rect">
            <a:avLst/>
          </a:prstGeom>
          <a:noFill/>
        </p:spPr>
        <p:txBody>
          <a:bodyPr wrap="square" anchor="t" lIns="0" rIns="0" tIns="0" bIns="0">
            <a:spAutoFit/>
          </a:bodyPr>
          <a:lstStyle/>
          <a:p>
            <a:pPr algn="l">
              <a:spcAft>
                <a:spcPts val="600"/>
              </a:spcAft>
            </a:pPr>
            <a:r>
              <a:rPr sz="3400" b="1" i="0">
                <a:solidFill>
                  <a:srgbClr val="5F6778"/>
                </a:solidFill>
                <a:latin typeface="Cambria"/>
              </a:rPr>
              <a:t>6.1 pts</a:t>
            </a:r>
          </a:p>
        </p:txBody>
      </p:sp>
      <p:sp>
        <p:nvSpPr>
          <p:cNvPr id="10" name="TextBox 9"/>
          <p:cNvSpPr txBox="1"/>
          <p:nvPr/>
        </p:nvSpPr>
        <p:spPr>
          <a:xfrm>
            <a:off x="3566160" y="5285232"/>
            <a:ext cx="214884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burst-size gap (p = 0.0006)</a:t>
            </a:r>
          </a:p>
        </p:txBody>
      </p:sp>
      <p:sp>
        <p:nvSpPr>
          <p:cNvPr id="11" name="Rounded Rectangle 10"/>
          <p:cNvSpPr/>
          <p:nvPr/>
        </p:nvSpPr>
        <p:spPr>
          <a:xfrm>
            <a:off x="6126480" y="4480560"/>
            <a:ext cx="260604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4617720"/>
            <a:ext cx="2148840" cy="685800"/>
          </a:xfrm>
          <a:prstGeom prst="rect">
            <a:avLst/>
          </a:prstGeom>
          <a:noFill/>
        </p:spPr>
        <p:txBody>
          <a:bodyPr wrap="square" anchor="t" lIns="0" rIns="0" tIns="0" bIns="0">
            <a:spAutoFit/>
          </a:bodyPr>
          <a:lstStyle/>
          <a:p>
            <a:pPr algn="l">
              <a:spcAft>
                <a:spcPts val="600"/>
              </a:spcAft>
            </a:pPr>
            <a:r>
              <a:rPr sz="3400" b="1" i="0">
                <a:solidFill>
                  <a:srgbClr val="D9483B"/>
                </a:solidFill>
                <a:latin typeface="Cambria"/>
              </a:rPr>
              <a:t>57%</a:t>
            </a:r>
          </a:p>
        </p:txBody>
      </p:sp>
      <p:sp>
        <p:nvSpPr>
          <p:cNvPr id="13" name="TextBox 12"/>
          <p:cNvSpPr txBox="1"/>
          <p:nvPr/>
        </p:nvSpPr>
        <p:spPr>
          <a:xfrm>
            <a:off x="6355080" y="5285232"/>
            <a:ext cx="214884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of the gap beyond noise</a:t>
            </a:r>
          </a:p>
        </p:txBody>
      </p:sp>
      <p:sp>
        <p:nvSpPr>
          <p:cNvPr id="14" name="Rounded Rectangle 13"/>
          <p:cNvSpPr/>
          <p:nvPr/>
        </p:nvSpPr>
        <p:spPr>
          <a:xfrm>
            <a:off x="8915400" y="4480560"/>
            <a:ext cx="2697480"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0" y="4617720"/>
            <a:ext cx="2240280" cy="685800"/>
          </a:xfrm>
          <a:prstGeom prst="rect">
            <a:avLst/>
          </a:prstGeom>
          <a:noFill/>
        </p:spPr>
        <p:txBody>
          <a:bodyPr wrap="square" anchor="t" lIns="0" rIns="0" tIns="0" bIns="0">
            <a:spAutoFit/>
          </a:bodyPr>
          <a:lstStyle/>
          <a:p>
            <a:pPr algn="l">
              <a:spcAft>
                <a:spcPts val="600"/>
              </a:spcAft>
            </a:pPr>
            <a:r>
              <a:rPr sz="3400" b="1" i="0">
                <a:solidFill>
                  <a:srgbClr val="D9483B"/>
                </a:solidFill>
                <a:latin typeface="Cambria"/>
              </a:rPr>
              <a:t>p = 0.031</a:t>
            </a:r>
          </a:p>
        </p:txBody>
      </p:sp>
      <p:sp>
        <p:nvSpPr>
          <p:cNvPr id="16" name="TextBox 15"/>
          <p:cNvSpPr txBox="1"/>
          <p:nvPr/>
        </p:nvSpPr>
        <p:spPr>
          <a:xfrm>
            <a:off x="9144000" y="5285232"/>
            <a:ext cx="2240280"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one-sided; 0.061 two-sided; 0.088 every-burst statistic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Robust differences: Qβ vs PP7, and in vitro protein:RNA</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12</a:t>
            </a:r>
          </a:p>
        </p:txBody>
      </p:sp>
      <p:pic>
        <p:nvPicPr>
          <p:cNvPr id="4" name="Picture 3" descr="net_loss.png"/>
          <p:cNvPicPr>
            <a:picLocks noChangeAspect="1"/>
          </p:cNvPicPr>
          <p:nvPr/>
        </p:nvPicPr>
        <p:blipFill>
          <a:blip r:embed="rId3"/>
          <a:stretch>
            <a:fillRect/>
          </a:stretch>
        </p:blipFill>
        <p:spPr>
          <a:xfrm>
            <a:off x="548640" y="1325880"/>
            <a:ext cx="6949440" cy="2565947"/>
          </a:xfrm>
          <a:prstGeom prst="rect">
            <a:avLst/>
          </a:prstGeom>
        </p:spPr>
      </p:pic>
      <p:sp>
        <p:nvSpPr>
          <p:cNvPr id="5" name="Rounded Rectangle 4"/>
          <p:cNvSpPr/>
          <p:nvPr/>
        </p:nvSpPr>
        <p:spPr>
          <a:xfrm>
            <a:off x="7863840" y="1371600"/>
            <a:ext cx="3749039"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92440" y="1508760"/>
            <a:ext cx="3291839" cy="685800"/>
          </a:xfrm>
          <a:prstGeom prst="rect">
            <a:avLst/>
          </a:prstGeom>
          <a:noFill/>
        </p:spPr>
        <p:txBody>
          <a:bodyPr wrap="square" anchor="t" lIns="0" rIns="0" tIns="0" bIns="0">
            <a:spAutoFit/>
          </a:bodyPr>
          <a:lstStyle/>
          <a:p>
            <a:pPr algn="l">
              <a:spcAft>
                <a:spcPts val="600"/>
              </a:spcAft>
            </a:pPr>
            <a:r>
              <a:rPr sz="3400" b="1" i="0">
                <a:solidFill>
                  <a:srgbClr val="1F7A74"/>
                </a:solidFill>
                <a:latin typeface="Cambria"/>
              </a:rPr>
              <a:t>9-10 %/h</a:t>
            </a:r>
          </a:p>
        </p:txBody>
      </p:sp>
      <p:sp>
        <p:nvSpPr>
          <p:cNvPr id="7" name="TextBox 6"/>
          <p:cNvSpPr txBox="1"/>
          <p:nvPr/>
        </p:nvSpPr>
        <p:spPr>
          <a:xfrm>
            <a:off x="8092440" y="2176272"/>
            <a:ext cx="3291839"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Qβ turnover beyond noise (PP7: ≈ 0; p = 0.005-0.02)</a:t>
            </a:r>
          </a:p>
        </p:txBody>
      </p:sp>
      <p:sp>
        <p:nvSpPr>
          <p:cNvPr id="8" name="Rounded Rectangle 7"/>
          <p:cNvSpPr/>
          <p:nvPr/>
        </p:nvSpPr>
        <p:spPr>
          <a:xfrm>
            <a:off x="7863840" y="2971800"/>
            <a:ext cx="3749039" cy="1417320"/>
          </a:xfrm>
          <a:prstGeom prst="roundRect">
            <a:avLst>
              <a:gd name="adj" fmla="val 8000"/>
            </a:avLst>
          </a:prstGeom>
          <a:solidFill>
            <a:srgbClr val="EEF2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92440" y="3108960"/>
            <a:ext cx="3291839" cy="685800"/>
          </a:xfrm>
          <a:prstGeom prst="rect">
            <a:avLst/>
          </a:prstGeom>
          <a:noFill/>
        </p:spPr>
        <p:txBody>
          <a:bodyPr wrap="square" anchor="t" lIns="0" rIns="0" tIns="0" bIns="0">
            <a:spAutoFit/>
          </a:bodyPr>
          <a:lstStyle/>
          <a:p>
            <a:pPr algn="l">
              <a:spcAft>
                <a:spcPts val="600"/>
              </a:spcAft>
            </a:pPr>
            <a:r>
              <a:rPr sz="3400" b="1" i="0">
                <a:solidFill>
                  <a:srgbClr val="D9483B"/>
                </a:solidFill>
                <a:latin typeface="Cambria"/>
              </a:rPr>
              <a:t>-21 → -71 %/h</a:t>
            </a:r>
          </a:p>
        </p:txBody>
      </p:sp>
      <p:sp>
        <p:nvSpPr>
          <p:cNvPr id="10" name="TextBox 9"/>
          <p:cNvSpPr txBox="1"/>
          <p:nvPr/>
        </p:nvSpPr>
        <p:spPr>
          <a:xfrm>
            <a:off x="8092440" y="3776472"/>
            <a:ext cx="3291839" cy="548640"/>
          </a:xfrm>
          <a:prstGeom prst="rect">
            <a:avLst/>
          </a:prstGeom>
          <a:noFill/>
        </p:spPr>
        <p:txBody>
          <a:bodyPr wrap="square" anchor="t" lIns="0" rIns="0" tIns="0" bIns="0">
            <a:spAutoFit/>
          </a:bodyPr>
          <a:lstStyle/>
          <a:p>
            <a:pPr algn="l">
              <a:spcAft>
                <a:spcPts val="600"/>
              </a:spcAft>
            </a:pPr>
            <a:r>
              <a:rPr sz="1200" b="0" i="0">
                <a:solidFill>
                  <a:srgbClr val="5F6778"/>
                </a:solidFill>
                <a:latin typeface="Calibri"/>
              </a:rPr>
              <a:t>in vitro net loss from 1:1 to 100:1 (100:1 vs 1:1: z = -4.5)</a:t>
            </a:r>
          </a:p>
        </p:txBody>
      </p:sp>
      <p:sp>
        <p:nvSpPr>
          <p:cNvPr id="11" name="TextBox 10"/>
          <p:cNvSpPr txBox="1"/>
          <p:nvPr/>
        </p:nvSpPr>
        <p:spPr>
          <a:xfrm>
            <a:off x="7863840" y="4572000"/>
            <a:ext cx="3749039" cy="1645920"/>
          </a:xfrm>
          <a:prstGeom prst="rect">
            <a:avLst/>
          </a:prstGeom>
          <a:noFill/>
        </p:spPr>
        <p:txBody>
          <a:bodyPr wrap="square" anchor="t" lIns="0" rIns="0" tIns="0" bIns="0">
            <a:spAutoFit/>
          </a:bodyPr>
          <a:lstStyle/>
          <a:p>
            <a:pPr algn="l">
              <a:spcAft>
                <a:spcPts val="600"/>
              </a:spcAft>
            </a:pPr>
            <a:r>
              <a:rPr sz="1400" b="0" i="0">
                <a:solidFill>
                  <a:srgbClr val="5F6778"/>
                </a:solidFill>
                <a:latin typeface="Calibri"/>
              </a:rPr>
              <a:t>In vivo, every condition fades only by bleaching: no net loss or gain beyond a few %/h.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822960"/>
          </a:xfrm>
          <a:prstGeom prst="rect">
            <a:avLst/>
          </a:prstGeom>
          <a:noFill/>
        </p:spPr>
        <p:txBody>
          <a:bodyPr wrap="square" anchor="ctr" lIns="0" rIns="0" tIns="0" bIns="0">
            <a:spAutoFit/>
          </a:bodyPr>
          <a:lstStyle/>
          <a:p>
            <a:pPr algn="l">
              <a:spcAft>
                <a:spcPts val="600"/>
              </a:spcAft>
            </a:pPr>
            <a:r>
              <a:rPr sz="3000" b="1" i="0">
                <a:solidFill>
                  <a:srgbClr val="1C243A"/>
                </a:solidFill>
                <a:latin typeface="Cambria"/>
              </a:rPr>
              <a:t>What happens to the manuscript's claims</a:t>
            </a:r>
          </a:p>
        </p:txBody>
      </p:sp>
      <p:sp>
        <p:nvSpPr>
          <p:cNvPr id="3" name="TextBox 2"/>
          <p:cNvSpPr txBox="1"/>
          <p:nvPr/>
        </p:nvSpPr>
        <p:spPr>
          <a:xfrm>
            <a:off x="11155680" y="6446520"/>
            <a:ext cx="548640" cy="274320"/>
          </a:xfrm>
          <a:prstGeom prst="rect">
            <a:avLst/>
          </a:prstGeom>
          <a:noFill/>
        </p:spPr>
        <p:txBody>
          <a:bodyPr wrap="square" anchor="t" lIns="0" rIns="0" tIns="0" bIns="0">
            <a:spAutoFit/>
          </a:bodyPr>
          <a:lstStyle/>
          <a:p>
            <a:pPr algn="r">
              <a:spcAft>
                <a:spcPts val="600"/>
              </a:spcAft>
            </a:pPr>
            <a:r>
              <a:rPr sz="1000" b="0" i="0">
                <a:solidFill>
                  <a:srgbClr val="5F6778"/>
                </a:solidFill>
                <a:latin typeface="Calibri"/>
              </a:rPr>
              <a:t>13</a:t>
            </a:r>
          </a:p>
        </p:txBody>
      </p:sp>
      <p:graphicFrame>
        <p:nvGraphicFramePr>
          <p:cNvPr id="4" name="Table 3"/>
          <p:cNvGraphicFramePr>
            <a:graphicFrameLocks noGrp="1"/>
          </p:cNvGraphicFramePr>
          <p:nvPr/>
        </p:nvGraphicFramePr>
        <p:xfrm>
          <a:off x="548640" y="1371600"/>
          <a:ext cx="11064240" cy="4572000"/>
        </p:xfrm>
        <a:graphic>
          <a:graphicData uri="http://schemas.openxmlformats.org/drawingml/2006/table">
            <a:tbl>
              <a:tblPr firstRow="1" bandRow="1">
                <a:tableStyleId>{5C22544A-7EE6-4342-B048-85BDC9FD1C3A}</a:tableStyleId>
              </a:tblPr>
              <a:tblGrid>
                <a:gridCol w="3657600"/>
                <a:gridCol w="1828800"/>
                <a:gridCol w="5577840"/>
              </a:tblGrid>
              <a:tr h="653142">
                <a:tc>
                  <a:txBody>
                    <a:bodyPr/>
                    <a:lstStyle/>
                    <a:p>
                      <a:r>
                        <a:rPr sz="1400" b="1">
                          <a:solidFill>
                            <a:srgbClr val="FFFFFF"/>
                          </a:solidFill>
                          <a:latin typeface="Calibri"/>
                        </a:rPr>
                        <a:t>Manuscript claim</a:t>
                      </a:r>
                    </a:p>
                  </a:txBody>
                  <a:tcPr anchor="ctr">
                    <a:solidFill>
                      <a:srgbClr val="1C243A"/>
                    </a:solidFill>
                  </a:tcPr>
                </a:tc>
                <a:tc>
                  <a:txBody>
                    <a:bodyPr/>
                    <a:lstStyle/>
                    <a:p>
                      <a:r>
                        <a:rPr sz="1400" b="1">
                          <a:solidFill>
                            <a:srgbClr val="FFFFFF"/>
                          </a:solidFill>
                          <a:latin typeface="Calibri"/>
                        </a:rPr>
                        <a:t>Status</a:t>
                      </a:r>
                    </a:p>
                  </a:txBody>
                  <a:tcPr anchor="ctr">
                    <a:solidFill>
                      <a:srgbClr val="1C243A"/>
                    </a:solidFill>
                  </a:tcPr>
                </a:tc>
                <a:tc>
                  <a:txBody>
                    <a:bodyPr/>
                    <a:lstStyle/>
                    <a:p>
                      <a:r>
                        <a:rPr sz="1400" b="1">
                          <a:solidFill>
                            <a:srgbClr val="FFFFFF"/>
                          </a:solidFill>
                          <a:latin typeface="Calibri"/>
                        </a:rPr>
                        <a:t>What the re-analysis shows</a:t>
                      </a:r>
                    </a:p>
                  </a:txBody>
                  <a:tcPr anchor="ctr">
                    <a:solidFill>
                      <a:srgbClr val="1C243A"/>
                    </a:solidFill>
                  </a:tcPr>
                </a:tc>
              </a:tr>
              <a:tr h="653142">
                <a:tc>
                  <a:txBody>
                    <a:bodyPr/>
                    <a:lstStyle/>
                    <a:p>
                      <a:r>
                        <a:rPr sz="1400" b="0">
                          <a:solidFill>
                            <a:srgbClr val="1C243A"/>
                          </a:solidFill>
                          <a:latin typeface="Calibri"/>
                        </a:rPr>
                        <a:t>PP7 granules: λ = 1, gel-like</a:t>
                      </a:r>
                    </a:p>
                  </a:txBody>
                  <a:tcPr anchor="ctr">
                    <a:solidFill>
                      <a:srgbClr val="FFFFFF"/>
                    </a:solidFill>
                  </a:tcPr>
                </a:tc>
                <a:tc>
                  <a:txBody>
                    <a:bodyPr/>
                    <a:lstStyle/>
                    <a:p>
                      <a:r>
                        <a:rPr sz="1400" b="1">
                          <a:solidFill>
                            <a:srgbClr val="D9483B"/>
                          </a:solidFill>
                          <a:latin typeface="Calibri"/>
                        </a:rPr>
                        <a:t>Not supported</a:t>
                      </a:r>
                    </a:p>
                  </a:txBody>
                  <a:tcPr anchor="ctr">
                    <a:solidFill>
                      <a:srgbClr val="FFFFFF"/>
                    </a:solidFill>
                  </a:tcPr>
                </a:tc>
                <a:tc>
                  <a:txBody>
                    <a:bodyPr/>
                    <a:lstStyle/>
                    <a:p>
                      <a:r>
                        <a:rPr sz="1400" b="0">
                          <a:solidFill>
                            <a:srgbClr val="1C243A"/>
                          </a:solidFill>
                          <a:latin typeface="Calibri"/>
                        </a:rPr>
                        <a:t>λ not identifiable; PP7 dynamics not distinguishable from noise</a:t>
                      </a:r>
                    </a:p>
                  </a:txBody>
                  <a:tcPr anchor="ctr">
                    <a:solidFill>
                      <a:srgbClr val="FFFFFF"/>
                    </a:solidFill>
                  </a:tcPr>
                </a:tc>
              </a:tr>
              <a:tr h="653142">
                <a:tc>
                  <a:txBody>
                    <a:bodyPr/>
                    <a:lstStyle/>
                    <a:p>
                      <a:r>
                        <a:rPr sz="1400" b="0">
                          <a:solidFill>
                            <a:srgbClr val="1C243A"/>
                          </a:solidFill>
                          <a:latin typeface="Calibri"/>
                        </a:rPr>
                        <a:t>Qβ: λ = 4, brittle</a:t>
                      </a:r>
                    </a:p>
                  </a:txBody>
                  <a:tcPr anchor="ctr">
                    <a:solidFill>
                      <a:srgbClr val="EEF2F5"/>
                    </a:solidFill>
                  </a:tcPr>
                </a:tc>
                <a:tc>
                  <a:txBody>
                    <a:bodyPr/>
                    <a:lstStyle/>
                    <a:p>
                      <a:r>
                        <a:rPr sz="1400" b="1">
                          <a:solidFill>
                            <a:srgbClr val="B06A10"/>
                          </a:solidFill>
                          <a:latin typeface="Calibri"/>
                        </a:rPr>
                        <a:t>Reframed</a:t>
                      </a:r>
                    </a:p>
                  </a:txBody>
                  <a:tcPr anchor="ctr">
                    <a:solidFill>
                      <a:srgbClr val="EEF2F5"/>
                    </a:solidFill>
                  </a:tcPr>
                </a:tc>
                <a:tc>
                  <a:txBody>
                    <a:bodyPr/>
                    <a:lstStyle/>
                    <a:p>
                      <a:r>
                        <a:rPr sz="1400" b="0">
                          <a:solidFill>
                            <a:srgbClr val="1C243A"/>
                          </a:solidFill>
                          <a:latin typeface="Calibri"/>
                        </a:rPr>
                        <a:t>Qβ is clearly more dynamic than PP7 (turnover beyond noise), λ itself not identifiable</a:t>
                      </a:r>
                    </a:p>
                  </a:txBody>
                  <a:tcPr anchor="ctr">
                    <a:solidFill>
                      <a:srgbClr val="EEF2F5"/>
                    </a:solidFill>
                  </a:tcPr>
                </a:tc>
              </a:tr>
              <a:tr h="653142">
                <a:tc>
                  <a:txBody>
                    <a:bodyPr/>
                    <a:lstStyle/>
                    <a:p>
                      <a:r>
                        <a:rPr sz="1400" b="0">
                          <a:solidFill>
                            <a:srgbClr val="1C243A"/>
                          </a:solidFill>
                          <a:latin typeface="Calibri"/>
                        </a:rPr>
                        <a:t>FUS raises λ at low valency</a:t>
                      </a:r>
                    </a:p>
                  </a:txBody>
                  <a:tcPr anchor="ctr">
                    <a:solidFill>
                      <a:srgbClr val="FFFFFF"/>
                    </a:solidFill>
                  </a:tcPr>
                </a:tc>
                <a:tc>
                  <a:txBody>
                    <a:bodyPr/>
                    <a:lstStyle/>
                    <a:p>
                      <a:r>
                        <a:rPr sz="1400" b="1">
                          <a:solidFill>
                            <a:srgbClr val="B06A10"/>
                          </a:solidFill>
                          <a:latin typeface="Calibri"/>
                        </a:rPr>
                        <a:t>Reframed, weak</a:t>
                      </a:r>
                    </a:p>
                  </a:txBody>
                  <a:tcPr anchor="ctr">
                    <a:solidFill>
                      <a:srgbClr val="FFFFFF"/>
                    </a:solidFill>
                  </a:tcPr>
                </a:tc>
                <a:tc>
                  <a:txBody>
                    <a:bodyPr/>
                    <a:lstStyle/>
                    <a:p>
                      <a:r>
                        <a:rPr sz="1400" b="0">
                          <a:solidFill>
                            <a:srgbClr val="1C243A"/>
                          </a:solidFill>
                          <a:latin typeface="Calibri"/>
                        </a:rPr>
                        <a:t>FUS 4x granules are 2x dimmer; burst size beyond noise is a trend (one-sided p = 0.03)</a:t>
                      </a:r>
                    </a:p>
                  </a:txBody>
                  <a:tcPr anchor="ctr">
                    <a:solidFill>
                      <a:srgbClr val="FFFFFF"/>
                    </a:solidFill>
                  </a:tcPr>
                </a:tc>
              </a:tr>
              <a:tr h="653142">
                <a:tc>
                  <a:txBody>
                    <a:bodyPr/>
                    <a:lstStyle/>
                    <a:p>
                      <a:r>
                        <a:rPr sz="1400" b="0">
                          <a:solidFill>
                            <a:srgbClr val="1C243A"/>
                          </a:solidFill>
                          <a:latin typeface="Calibri"/>
                        </a:rPr>
                        <a:t>No FUS effect at high valency</a:t>
                      </a:r>
                    </a:p>
                  </a:txBody>
                  <a:tcPr anchor="ctr">
                    <a:solidFill>
                      <a:srgbClr val="EEF2F5"/>
                    </a:solidFill>
                  </a:tcPr>
                </a:tc>
                <a:tc>
                  <a:txBody>
                    <a:bodyPr/>
                    <a:lstStyle/>
                    <a:p>
                      <a:r>
                        <a:rPr sz="1400" b="1">
                          <a:solidFill>
                            <a:srgbClr val="1F7A74"/>
                          </a:solidFill>
                          <a:latin typeface="Calibri"/>
                        </a:rPr>
                        <a:t>Supported</a:t>
                      </a:r>
                    </a:p>
                  </a:txBody>
                  <a:tcPr anchor="ctr">
                    <a:solidFill>
                      <a:srgbClr val="EEF2F5"/>
                    </a:solidFill>
                  </a:tcPr>
                </a:tc>
                <a:tc>
                  <a:txBody>
                    <a:bodyPr/>
                    <a:lstStyle/>
                    <a:p>
                      <a:r>
                        <a:rPr sz="1400" b="0">
                          <a:solidFill>
                            <a:srgbClr val="1C243A"/>
                          </a:solidFill>
                          <a:latin typeface="Calibri"/>
                        </a:rPr>
                        <a:t>No difference in any measure at 30x</a:t>
                      </a:r>
                    </a:p>
                  </a:txBody>
                  <a:tcPr anchor="ctr">
                    <a:solidFill>
                      <a:srgbClr val="EEF2F5"/>
                    </a:solidFill>
                  </a:tcPr>
                </a:tc>
              </a:tr>
              <a:tr h="653142">
                <a:tc>
                  <a:txBody>
                    <a:bodyPr/>
                    <a:lstStyle/>
                    <a:p>
                      <a:r>
                        <a:rPr sz="1400" b="0">
                          <a:solidFill>
                            <a:srgbClr val="1C243A"/>
                          </a:solidFill>
                          <a:latin typeface="Calibri"/>
                        </a:rPr>
                        <a:t>In vitro k0 grows with protein</a:t>
                      </a:r>
                    </a:p>
                  </a:txBody>
                  <a:tcPr anchor="ctr">
                    <a:solidFill>
                      <a:srgbClr val="FFFFFF"/>
                    </a:solidFill>
                  </a:tcPr>
                </a:tc>
                <a:tc>
                  <a:txBody>
                    <a:bodyPr/>
                    <a:lstStyle/>
                    <a:p>
                      <a:r>
                        <a:rPr sz="1400" b="1">
                          <a:solidFill>
                            <a:srgbClr val="B06A10"/>
                          </a:solidFill>
                          <a:latin typeface="Calibri"/>
                        </a:rPr>
                        <a:t>Reframed</a:t>
                      </a:r>
                    </a:p>
                  </a:txBody>
                  <a:tcPr anchor="ctr">
                    <a:solidFill>
                      <a:srgbClr val="FFFFFF"/>
                    </a:solidFill>
                  </a:tcPr>
                </a:tc>
                <a:tc>
                  <a:txBody>
                    <a:bodyPr/>
                    <a:lstStyle/>
                    <a:p>
                      <a:r>
                        <a:rPr sz="1400" b="0">
                          <a:solidFill>
                            <a:srgbClr val="1C243A"/>
                          </a:solidFill>
                          <a:latin typeface="Calibri"/>
                        </a:rPr>
                        <a:t>Mean burst size and net loss grow with protein:RNA (in vitro has no raw movies to re-check)</a:t>
                      </a:r>
                    </a:p>
                  </a:txBody>
                  <a:tcPr anchor="ctr">
                    <a:solidFill>
                      <a:srgbClr val="FFFFFF"/>
                    </a:solidFill>
                  </a:tcPr>
                </a:tc>
              </a:tr>
              <a:tr h="653148">
                <a:tc>
                  <a:txBody>
                    <a:bodyPr/>
                    <a:lstStyle/>
                    <a:p>
                      <a:r>
                        <a:rPr sz="1400" b="0">
                          <a:solidFill>
                            <a:srgbClr val="1C243A"/>
                          </a:solidFill>
                          <a:latin typeface="Calibri"/>
                        </a:rPr>
                        <a:t>Integer λ from a grid search</a:t>
                      </a:r>
                    </a:p>
                  </a:txBody>
                  <a:tcPr anchor="ctr">
                    <a:solidFill>
                      <a:srgbClr val="EEF2F5"/>
                    </a:solidFill>
                  </a:tcPr>
                </a:tc>
                <a:tc>
                  <a:txBody>
                    <a:bodyPr/>
                    <a:lstStyle/>
                    <a:p>
                      <a:r>
                        <a:rPr sz="1400" b="1">
                          <a:solidFill>
                            <a:srgbClr val="D9483B"/>
                          </a:solidFill>
                          <a:latin typeface="Calibri"/>
                        </a:rPr>
                        <a:t>Replace</a:t>
                      </a:r>
                    </a:p>
                  </a:txBody>
                  <a:tcPr anchor="ctr">
                    <a:solidFill>
                      <a:srgbClr val="EEF2F5"/>
                    </a:solidFill>
                  </a:tcPr>
                </a:tc>
                <a:tc>
                  <a:txBody>
                    <a:bodyPr/>
                    <a:lstStyle/>
                    <a:p>
                      <a:r>
                        <a:rPr sz="1400" b="0">
                          <a:solidFill>
                            <a:srgbClr val="1C243A"/>
                          </a:solidFill>
                          <a:latin typeface="Calibri"/>
                        </a:rPr>
                        <a:t>Report λ·k0 / burst size with CIs and a noise control</a:t>
                      </a:r>
                    </a:p>
                  </a:txBody>
                  <a:tcPr anchor="ctr">
                    <a:solidFill>
                      <a:srgbClr val="EEF2F5"/>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C243A"/>
        </a:solidFill>
        <a:effectLst/>
      </p:bgPr>
    </p:bg>
    <p:spTree>
      <p:nvGrpSpPr>
        <p:cNvPr id="1" name=""/>
        <p:cNvGrpSpPr/>
        <p:nvPr/>
      </p:nvGrpSpPr>
      <p:grpSpPr/>
      <p:sp>
        <p:nvSpPr>
          <p:cNvPr id="2" name="TextBox 1"/>
          <p:cNvSpPr txBox="1"/>
          <p:nvPr/>
        </p:nvSpPr>
        <p:spPr>
          <a:xfrm>
            <a:off x="822960" y="1188720"/>
            <a:ext cx="10515600" cy="1463040"/>
          </a:xfrm>
          <a:prstGeom prst="rect">
            <a:avLst/>
          </a:prstGeom>
          <a:noFill/>
        </p:spPr>
        <p:txBody>
          <a:bodyPr wrap="square" anchor="t" lIns="0" rIns="0" tIns="0" bIns="0">
            <a:spAutoFit/>
          </a:bodyPr>
          <a:lstStyle/>
          <a:p>
            <a:pPr algn="l">
              <a:spcAft>
                <a:spcPts val="600"/>
              </a:spcAft>
            </a:pPr>
            <a:r>
              <a:rPr sz="4200" b="1" i="0">
                <a:solidFill>
                  <a:srgbClr val="FFFFFF"/>
                </a:solidFill>
                <a:latin typeface="Cambria"/>
              </a:rPr>
              <a:t>Decisions for us</a:t>
            </a:r>
          </a:p>
        </p:txBody>
      </p:sp>
      <p:sp>
        <p:nvSpPr>
          <p:cNvPr id="3" name="TextBox 2"/>
          <p:cNvSpPr txBox="1"/>
          <p:nvPr/>
        </p:nvSpPr>
        <p:spPr>
          <a:xfrm>
            <a:off x="822960" y="3657600"/>
            <a:ext cx="10515600" cy="1097280"/>
          </a:xfrm>
          <a:prstGeom prst="rect">
            <a:avLst/>
          </a:prstGeom>
          <a:noFill/>
        </p:spPr>
        <p:txBody>
          <a:bodyPr wrap="square" anchor="t" lIns="0" rIns="0" tIns="0" bIns="0">
            <a:spAutoFit/>
          </a:bodyPr>
          <a:lstStyle/>
          <a:p>
            <a:pPr algn="l">
              <a:spcAft>
                <a:spcPts val="600"/>
              </a:spcAft>
            </a:pPr>
            <a:r>
              <a:rPr sz="1800" b="0" i="0">
                <a:solidFill>
                  <a:srgbClr val="C9D3E0"/>
                </a:solidFill>
                <a:latin typeface="Calibri"/>
              </a:rPr>
              <a:t/>
            </a:r>
          </a:p>
        </p:txBody>
      </p:sp>
      <p:sp>
        <p:nvSpPr>
          <p:cNvPr id="4" name="Oval 3"/>
          <p:cNvSpPr/>
          <p:nvPr/>
        </p:nvSpPr>
        <p:spPr>
          <a:xfrm>
            <a:off x="822960" y="3063240"/>
            <a:ext cx="420624" cy="420624"/>
          </a:xfrm>
          <a:prstGeom prst="ellipse">
            <a:avLst/>
          </a:prstGeom>
          <a:solidFill>
            <a:srgbClr val="D948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rPr>
              <a:t>1</a:t>
            </a:r>
          </a:p>
        </p:txBody>
      </p:sp>
      <p:sp>
        <p:nvSpPr>
          <p:cNvPr id="5" name="TextBox 4"/>
          <p:cNvSpPr txBox="1"/>
          <p:nvPr/>
        </p:nvSpPr>
        <p:spPr>
          <a:xfrm>
            <a:off x="1463040" y="3081528"/>
            <a:ext cx="10058400" cy="457200"/>
          </a:xfrm>
          <a:prstGeom prst="rect">
            <a:avLst/>
          </a:prstGeom>
          <a:noFill/>
        </p:spPr>
        <p:txBody>
          <a:bodyPr wrap="square" anchor="t" lIns="0" rIns="0" tIns="0" bIns="0">
            <a:spAutoFit/>
          </a:bodyPr>
          <a:lstStyle/>
          <a:p>
            <a:pPr algn="l">
              <a:spcAft>
                <a:spcPts val="600"/>
              </a:spcAft>
            </a:pPr>
            <a:r>
              <a:rPr sz="1800" b="0" i="0">
                <a:solidFill>
                  <a:srgbClr val="FFFFFF"/>
                </a:solidFill>
                <a:latin typeface="Calibri"/>
              </a:rPr>
              <a:t>Report λ·k0 / burst size, turnover and net change with noise controls, instead of λ and k0</a:t>
            </a:r>
          </a:p>
        </p:txBody>
      </p:sp>
      <p:sp>
        <p:nvSpPr>
          <p:cNvPr id="6" name="Oval 5"/>
          <p:cNvSpPr/>
          <p:nvPr/>
        </p:nvSpPr>
        <p:spPr>
          <a:xfrm>
            <a:off x="822960" y="3721608"/>
            <a:ext cx="420624" cy="420624"/>
          </a:xfrm>
          <a:prstGeom prst="ellipse">
            <a:avLst/>
          </a:prstGeom>
          <a:solidFill>
            <a:srgbClr val="D948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rPr>
              <a:t>2</a:t>
            </a:r>
          </a:p>
        </p:txBody>
      </p:sp>
      <p:sp>
        <p:nvSpPr>
          <p:cNvPr id="7" name="TextBox 6"/>
          <p:cNvSpPr txBox="1"/>
          <p:nvPr/>
        </p:nvSpPr>
        <p:spPr>
          <a:xfrm>
            <a:off x="1463040" y="3739896"/>
            <a:ext cx="10058400" cy="457200"/>
          </a:xfrm>
          <a:prstGeom prst="rect">
            <a:avLst/>
          </a:prstGeom>
          <a:noFill/>
        </p:spPr>
        <p:txBody>
          <a:bodyPr wrap="square" anchor="t" lIns="0" rIns="0" tIns="0" bIns="0">
            <a:spAutoFit/>
          </a:bodyPr>
          <a:lstStyle/>
          <a:p>
            <a:pPr algn="l">
              <a:spcAft>
                <a:spcPts val="600"/>
              </a:spcAft>
            </a:pPr>
            <a:r>
              <a:rPr sz="1800" b="0" i="0">
                <a:solidFill>
                  <a:srgbClr val="FFFFFF"/>
                </a:solidFill>
                <a:latin typeface="Calibri"/>
              </a:rPr>
              <a:t>FUS 4x: present as a trend, or collect ~2-5x more movies (about 50 per condition for 80% power)</a:t>
            </a:r>
          </a:p>
        </p:txBody>
      </p:sp>
      <p:sp>
        <p:nvSpPr>
          <p:cNvPr id="8" name="Oval 7"/>
          <p:cNvSpPr/>
          <p:nvPr/>
        </p:nvSpPr>
        <p:spPr>
          <a:xfrm>
            <a:off x="822960" y="4379976"/>
            <a:ext cx="420624" cy="420624"/>
          </a:xfrm>
          <a:prstGeom prst="ellipse">
            <a:avLst/>
          </a:prstGeom>
          <a:solidFill>
            <a:srgbClr val="D948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rPr>
              <a:t>3</a:t>
            </a:r>
          </a:p>
        </p:txBody>
      </p:sp>
      <p:sp>
        <p:nvSpPr>
          <p:cNvPr id="9" name="TextBox 8"/>
          <p:cNvSpPr txBox="1"/>
          <p:nvPr/>
        </p:nvSpPr>
        <p:spPr>
          <a:xfrm>
            <a:off x="1463040" y="4398264"/>
            <a:ext cx="10058400" cy="457200"/>
          </a:xfrm>
          <a:prstGeom prst="rect">
            <a:avLst/>
          </a:prstGeom>
          <a:noFill/>
        </p:spPr>
        <p:txBody>
          <a:bodyPr wrap="square" anchor="t" lIns="0" rIns="0" tIns="0" bIns="0">
            <a:spAutoFit/>
          </a:bodyPr>
          <a:lstStyle/>
          <a:p>
            <a:pPr algn="l">
              <a:spcAft>
                <a:spcPts val="600"/>
              </a:spcAft>
            </a:pPr>
            <a:r>
              <a:rPr sz="1800" b="0" i="0">
                <a:solidFill>
                  <a:srgbClr val="FFFFFF"/>
                </a:solidFill>
                <a:latin typeface="Calibri"/>
              </a:rPr>
              <a:t>A fixed or crosslinked granule movie would give a direct, model-free noise control</a:t>
            </a:r>
          </a:p>
        </p:txBody>
      </p:sp>
      <p:sp>
        <p:nvSpPr>
          <p:cNvPr id="10" name="Oval 9"/>
          <p:cNvSpPr/>
          <p:nvPr/>
        </p:nvSpPr>
        <p:spPr>
          <a:xfrm>
            <a:off x="822960" y="5038344"/>
            <a:ext cx="420624" cy="420624"/>
          </a:xfrm>
          <a:prstGeom prst="ellipse">
            <a:avLst/>
          </a:prstGeom>
          <a:solidFill>
            <a:srgbClr val="D948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rPr>
              <a:t>4</a:t>
            </a:r>
          </a:p>
        </p:txBody>
      </p:sp>
      <p:sp>
        <p:nvSpPr>
          <p:cNvPr id="11" name="TextBox 10"/>
          <p:cNvSpPr txBox="1"/>
          <p:nvPr/>
        </p:nvSpPr>
        <p:spPr>
          <a:xfrm>
            <a:off x="1463040" y="5056631"/>
            <a:ext cx="10058400" cy="457200"/>
          </a:xfrm>
          <a:prstGeom prst="rect">
            <a:avLst/>
          </a:prstGeom>
          <a:noFill/>
        </p:spPr>
        <p:txBody>
          <a:bodyPr wrap="square" anchor="t" lIns="0" rIns="0" tIns="0" bIns="0">
            <a:spAutoFit/>
          </a:bodyPr>
          <a:lstStyle/>
          <a:p>
            <a:pPr algn="l">
              <a:spcAft>
                <a:spcPts val="600"/>
              </a:spcAft>
            </a:pPr>
            <a:r>
              <a:rPr sz="1800" b="0" i="0">
                <a:solidFill>
                  <a:srgbClr val="FFFFFF"/>
                </a:solidFill>
                <a:latin typeface="Calibri"/>
              </a:rPr>
              <a:t>In vitro raw movies are missing: in vitro conclusions rest on the stored traces</a:t>
            </a:r>
          </a:p>
        </p:txBody>
      </p:sp>
      <p:sp>
        <p:nvSpPr>
          <p:cNvPr id="12" name="Oval 11"/>
          <p:cNvSpPr/>
          <p:nvPr/>
        </p:nvSpPr>
        <p:spPr>
          <a:xfrm>
            <a:off x="822960" y="5696712"/>
            <a:ext cx="420624" cy="420624"/>
          </a:xfrm>
          <a:prstGeom prst="ellipse">
            <a:avLst/>
          </a:prstGeom>
          <a:solidFill>
            <a:srgbClr val="D948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rPr>
              <a:t>5</a:t>
            </a:r>
          </a:p>
        </p:txBody>
      </p:sp>
      <p:sp>
        <p:nvSpPr>
          <p:cNvPr id="13" name="TextBox 12"/>
          <p:cNvSpPr txBox="1"/>
          <p:nvPr/>
        </p:nvSpPr>
        <p:spPr>
          <a:xfrm>
            <a:off x="1463040" y="5715000"/>
            <a:ext cx="10058400" cy="457200"/>
          </a:xfrm>
          <a:prstGeom prst="rect">
            <a:avLst/>
          </a:prstGeom>
          <a:noFill/>
        </p:spPr>
        <p:txBody>
          <a:bodyPr wrap="square" anchor="t" lIns="0" rIns="0" tIns="0" bIns="0">
            <a:spAutoFit/>
          </a:bodyPr>
          <a:lstStyle/>
          <a:p>
            <a:pPr algn="l">
              <a:spcAft>
                <a:spcPts val="600"/>
              </a:spcAft>
            </a:pPr>
            <a:r>
              <a:rPr sz="1800" b="0" i="0">
                <a:solidFill>
                  <a:srgbClr val="FFFFFF"/>
                </a:solidFill>
                <a:latin typeface="Calibri"/>
              </a:rPr>
              <a:t>Extraction: keep per-frame thresholds (published), or design a stable granule mask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